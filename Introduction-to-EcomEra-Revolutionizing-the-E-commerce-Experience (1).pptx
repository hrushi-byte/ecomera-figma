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6.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orben" panose="020B0604020202020204" charset="0"/>
      <p:regular r:id="rId13"/>
    </p:embeddedFont>
    <p:embeddedFont>
      <p:font typeface="Nobile"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4237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4" name="Text 0"/>
          <p:cNvSpPr/>
          <p:nvPr/>
        </p:nvSpPr>
        <p:spPr>
          <a:xfrm>
            <a:off x="730329" y="1191220"/>
            <a:ext cx="7683341" cy="3599021"/>
          </a:xfrm>
          <a:prstGeom prst="rect">
            <a:avLst/>
          </a:prstGeom>
          <a:noFill/>
          <a:ln/>
        </p:spPr>
        <p:txBody>
          <a:bodyPr wrap="square" lIns="0" tIns="0" rIns="0" bIns="0" rtlCol="0" anchor="t"/>
          <a:lstStyle/>
          <a:p>
            <a:pPr marL="0" indent="0">
              <a:lnSpc>
                <a:spcPts val="7050"/>
              </a:lnSpc>
              <a:buNone/>
            </a:pPr>
            <a:r>
              <a:rPr lang="en-US" sz="5650" dirty="0">
                <a:solidFill>
                  <a:srgbClr val="1B1B27"/>
                </a:solidFill>
                <a:latin typeface="Corben" pitchFamily="34" charset="0"/>
                <a:ea typeface="Corben" pitchFamily="34" charset="-122"/>
                <a:cs typeface="Corben" pitchFamily="34" charset="-120"/>
              </a:rPr>
              <a:t>Introduction to EcomEra: Revolutionizing the E-commerce Experience</a:t>
            </a:r>
            <a:endParaRPr lang="en-US" sz="5650" dirty="0"/>
          </a:p>
        </p:txBody>
      </p:sp>
      <p:sp>
        <p:nvSpPr>
          <p:cNvPr id="5" name="Text 1"/>
          <p:cNvSpPr/>
          <p:nvPr/>
        </p:nvSpPr>
        <p:spPr>
          <a:xfrm>
            <a:off x="730329" y="5103138"/>
            <a:ext cx="7683341" cy="1335405"/>
          </a:xfrm>
          <a:prstGeom prst="rect">
            <a:avLst/>
          </a:prstGeom>
          <a:noFill/>
          <a:ln/>
        </p:spPr>
        <p:txBody>
          <a:bodyPr wrap="square" lIns="0" tIns="0" rIns="0" bIns="0" rtlCol="0" anchor="t"/>
          <a:lstStyle/>
          <a:p>
            <a:pPr marL="0" indent="0">
              <a:lnSpc>
                <a:spcPts val="2600"/>
              </a:lnSpc>
              <a:buNone/>
            </a:pPr>
            <a:r>
              <a:rPr lang="en-US" sz="1600" dirty="0">
                <a:solidFill>
                  <a:srgbClr val="404155"/>
                </a:solidFill>
                <a:latin typeface="Nobile" pitchFamily="34" charset="0"/>
                <a:ea typeface="Nobile" pitchFamily="34" charset="-122"/>
                <a:cs typeface="Nobile" pitchFamily="34" charset="-120"/>
              </a:rPr>
              <a:t>EcomEra aims to revolutionize the online shopping experience by simplifying the user journey and enhancing customer satisfaction. This innovative platform seeks to address the challenges faced by both customers and businesses in the modern e-commerce landscape.</a:t>
            </a:r>
            <a:endParaRPr lang="en-US" sz="1600" dirty="0"/>
          </a:p>
        </p:txBody>
      </p:sp>
      <p:sp>
        <p:nvSpPr>
          <p:cNvPr id="6" name="Shape 2"/>
          <p:cNvSpPr/>
          <p:nvPr/>
        </p:nvSpPr>
        <p:spPr>
          <a:xfrm>
            <a:off x="730329" y="6688812"/>
            <a:ext cx="333851" cy="333851"/>
          </a:xfrm>
          <a:prstGeom prst="roundRect">
            <a:avLst>
              <a:gd name="adj" fmla="val 27386725"/>
            </a:avLst>
          </a:prstGeom>
          <a:noFill/>
          <a:ln w="7620">
            <a:solidFill>
              <a:srgbClr val="FFFFFF"/>
            </a:solidFill>
            <a:prstDash val="solid"/>
          </a:ln>
        </p:spPr>
      </p:sp>
      <p:sp>
        <p:nvSpPr>
          <p:cNvPr id="8" name="Text 3"/>
          <p:cNvSpPr/>
          <p:nvPr/>
        </p:nvSpPr>
        <p:spPr>
          <a:xfrm>
            <a:off x="1168479" y="6673215"/>
            <a:ext cx="1766054" cy="365165"/>
          </a:xfrm>
          <a:prstGeom prst="rect">
            <a:avLst/>
          </a:prstGeom>
          <a:noFill/>
          <a:ln/>
        </p:spPr>
        <p:txBody>
          <a:bodyPr wrap="none" lIns="0" tIns="0" rIns="0" bIns="0" rtlCol="0" anchor="t"/>
          <a:lstStyle/>
          <a:p>
            <a:pPr marL="0" indent="0" algn="l">
              <a:lnSpc>
                <a:spcPts val="2850"/>
              </a:lnSpc>
              <a:buNone/>
            </a:pPr>
            <a:endParaRPr lang="en-US" sz="2050" dirty="0"/>
          </a:p>
        </p:txBody>
      </p:sp>
      <p:pic>
        <p:nvPicPr>
          <p:cNvPr id="10" name="Picture 9">
            <a:extLst>
              <a:ext uri="{FF2B5EF4-FFF2-40B4-BE49-F238E27FC236}">
                <a16:creationId xmlns:a16="http://schemas.microsoft.com/office/drawing/2014/main" id="{F63DD8B2-C118-FD35-12EC-1FEA34EE880C}"/>
              </a:ext>
            </a:extLst>
          </p:cNvPr>
          <p:cNvPicPr>
            <a:picLocks noChangeAspect="1"/>
          </p:cNvPicPr>
          <p:nvPr/>
        </p:nvPicPr>
        <p:blipFill>
          <a:blip r:embed="rId4"/>
          <a:stretch>
            <a:fillRect/>
          </a:stretch>
        </p:blipFill>
        <p:spPr>
          <a:xfrm>
            <a:off x="9857677" y="200721"/>
            <a:ext cx="4042394" cy="782815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396014"/>
          </a:xfrm>
          <a:prstGeom prst="rect">
            <a:avLst/>
          </a:prstGeom>
        </p:spPr>
      </p:pic>
      <p:sp>
        <p:nvSpPr>
          <p:cNvPr id="3" name="Text 0"/>
          <p:cNvSpPr/>
          <p:nvPr/>
        </p:nvSpPr>
        <p:spPr>
          <a:xfrm>
            <a:off x="670798" y="2924175"/>
            <a:ext cx="13288804" cy="1198007"/>
          </a:xfrm>
          <a:prstGeom prst="rect">
            <a:avLst/>
          </a:prstGeom>
          <a:noFill/>
          <a:ln/>
        </p:spPr>
        <p:txBody>
          <a:bodyPr wrap="square" lIns="0" tIns="0" rIns="0" bIns="0" rtlCol="0" anchor="t"/>
          <a:lstStyle/>
          <a:p>
            <a:pPr marL="0" indent="0">
              <a:lnSpc>
                <a:spcPts val="4700"/>
              </a:lnSpc>
              <a:buNone/>
            </a:pPr>
            <a:r>
              <a:rPr lang="en-US" sz="3750" dirty="0">
                <a:solidFill>
                  <a:srgbClr val="1B1B27"/>
                </a:solidFill>
                <a:latin typeface="Corben" pitchFamily="34" charset="0"/>
                <a:ea typeface="Corben" pitchFamily="34" charset="-122"/>
                <a:cs typeface="Corben" pitchFamily="34" charset="-120"/>
              </a:rPr>
              <a:t>Key Features of EcomEra: Enhancing Usability and Engagement</a:t>
            </a:r>
            <a:endParaRPr lang="en-US" sz="3750" dirty="0"/>
          </a:p>
        </p:txBody>
      </p:sp>
      <p:sp>
        <p:nvSpPr>
          <p:cNvPr id="4" name="Shape 1"/>
          <p:cNvSpPr/>
          <p:nvPr/>
        </p:nvSpPr>
        <p:spPr>
          <a:xfrm>
            <a:off x="670798" y="4625221"/>
            <a:ext cx="431244" cy="431244"/>
          </a:xfrm>
          <a:prstGeom prst="roundRect">
            <a:avLst>
              <a:gd name="adj" fmla="val 18669"/>
            </a:avLst>
          </a:prstGeom>
          <a:solidFill>
            <a:srgbClr val="D2D9F9"/>
          </a:solidFill>
          <a:ln w="7620">
            <a:solidFill>
              <a:srgbClr val="B8BFDF"/>
            </a:solidFill>
            <a:prstDash val="solid"/>
          </a:ln>
        </p:spPr>
      </p:sp>
      <p:sp>
        <p:nvSpPr>
          <p:cNvPr id="5" name="Text 2"/>
          <p:cNvSpPr/>
          <p:nvPr/>
        </p:nvSpPr>
        <p:spPr>
          <a:xfrm>
            <a:off x="843915" y="4697016"/>
            <a:ext cx="85011" cy="287536"/>
          </a:xfrm>
          <a:prstGeom prst="rect">
            <a:avLst/>
          </a:prstGeom>
          <a:noFill/>
          <a:ln/>
        </p:spPr>
        <p:txBody>
          <a:bodyPr wrap="none" lIns="0" tIns="0" rIns="0" bIns="0" rtlCol="0" anchor="t"/>
          <a:lstStyle/>
          <a:p>
            <a:pPr marL="0" indent="0" algn="ctr">
              <a:lnSpc>
                <a:spcPts val="2250"/>
              </a:lnSpc>
              <a:buNone/>
            </a:pPr>
            <a:r>
              <a:rPr lang="en-US" sz="2250" dirty="0">
                <a:solidFill>
                  <a:srgbClr val="404155"/>
                </a:solidFill>
                <a:latin typeface="Corben" pitchFamily="34" charset="0"/>
                <a:ea typeface="Corben" pitchFamily="34" charset="-122"/>
                <a:cs typeface="Corben" pitchFamily="34" charset="-120"/>
              </a:rPr>
              <a:t>1</a:t>
            </a:r>
            <a:endParaRPr lang="en-US" sz="2250" dirty="0"/>
          </a:p>
        </p:txBody>
      </p:sp>
      <p:sp>
        <p:nvSpPr>
          <p:cNvPr id="6" name="Text 3"/>
          <p:cNvSpPr/>
          <p:nvPr/>
        </p:nvSpPr>
        <p:spPr>
          <a:xfrm>
            <a:off x="1293614" y="4625221"/>
            <a:ext cx="3622596" cy="299442"/>
          </a:xfrm>
          <a:prstGeom prst="rect">
            <a:avLst/>
          </a:prstGeom>
          <a:noFill/>
          <a:ln/>
        </p:spPr>
        <p:txBody>
          <a:bodyPr wrap="none" lIns="0" tIns="0" rIns="0" bIns="0" rtlCol="0" anchor="t"/>
          <a:lstStyle/>
          <a:p>
            <a:pPr marL="0" indent="0">
              <a:lnSpc>
                <a:spcPts val="2350"/>
              </a:lnSpc>
              <a:buNone/>
            </a:pPr>
            <a:r>
              <a:rPr lang="en-US" sz="1850" dirty="0">
                <a:solidFill>
                  <a:srgbClr val="404155"/>
                </a:solidFill>
                <a:latin typeface="Corben" pitchFamily="34" charset="0"/>
                <a:ea typeface="Corben" pitchFamily="34" charset="-122"/>
                <a:cs typeface="Corben" pitchFamily="34" charset="-120"/>
              </a:rPr>
              <a:t>Personalized Recommendations</a:t>
            </a:r>
            <a:endParaRPr lang="en-US" sz="1850" dirty="0"/>
          </a:p>
        </p:txBody>
      </p:sp>
      <p:sp>
        <p:nvSpPr>
          <p:cNvPr id="7" name="Text 4"/>
          <p:cNvSpPr/>
          <p:nvPr/>
        </p:nvSpPr>
        <p:spPr>
          <a:xfrm>
            <a:off x="1293614" y="5039558"/>
            <a:ext cx="5925860" cy="920115"/>
          </a:xfrm>
          <a:prstGeom prst="rect">
            <a:avLst/>
          </a:prstGeom>
          <a:noFill/>
          <a:ln/>
        </p:spPr>
        <p:txBody>
          <a:bodyPr wrap="square" lIns="0" tIns="0" rIns="0" bIns="0" rtlCol="0" anchor="t"/>
          <a:lstStyle/>
          <a:p>
            <a:pPr marL="0" indent="0">
              <a:lnSpc>
                <a:spcPts val="2400"/>
              </a:lnSpc>
              <a:buNone/>
            </a:pPr>
            <a:r>
              <a:rPr lang="en-US" sz="1500" dirty="0">
                <a:solidFill>
                  <a:srgbClr val="404155"/>
                </a:solidFill>
                <a:latin typeface="Nobile" pitchFamily="34" charset="0"/>
                <a:ea typeface="Nobile" pitchFamily="34" charset="-122"/>
                <a:cs typeface="Nobile" pitchFamily="34" charset="-120"/>
              </a:rPr>
              <a:t>EcomEra leverages AI-powered algorithms to provide tailored product suggestions, improving user engagement and conversion rates.</a:t>
            </a:r>
            <a:endParaRPr lang="en-US" sz="1500" dirty="0"/>
          </a:p>
        </p:txBody>
      </p:sp>
      <p:sp>
        <p:nvSpPr>
          <p:cNvPr id="8" name="Shape 5"/>
          <p:cNvSpPr/>
          <p:nvPr/>
        </p:nvSpPr>
        <p:spPr>
          <a:xfrm>
            <a:off x="7411045" y="4625221"/>
            <a:ext cx="431244" cy="431244"/>
          </a:xfrm>
          <a:prstGeom prst="roundRect">
            <a:avLst>
              <a:gd name="adj" fmla="val 18669"/>
            </a:avLst>
          </a:prstGeom>
          <a:solidFill>
            <a:srgbClr val="D2D9F9"/>
          </a:solidFill>
          <a:ln w="7620">
            <a:solidFill>
              <a:srgbClr val="B8BFDF"/>
            </a:solidFill>
            <a:prstDash val="solid"/>
          </a:ln>
        </p:spPr>
      </p:sp>
      <p:sp>
        <p:nvSpPr>
          <p:cNvPr id="9" name="Text 6"/>
          <p:cNvSpPr/>
          <p:nvPr/>
        </p:nvSpPr>
        <p:spPr>
          <a:xfrm>
            <a:off x="7551658" y="4697016"/>
            <a:ext cx="149900" cy="287536"/>
          </a:xfrm>
          <a:prstGeom prst="rect">
            <a:avLst/>
          </a:prstGeom>
          <a:noFill/>
          <a:ln/>
        </p:spPr>
        <p:txBody>
          <a:bodyPr wrap="none" lIns="0" tIns="0" rIns="0" bIns="0" rtlCol="0" anchor="t"/>
          <a:lstStyle/>
          <a:p>
            <a:pPr marL="0" indent="0" algn="ctr">
              <a:lnSpc>
                <a:spcPts val="2250"/>
              </a:lnSpc>
              <a:buNone/>
            </a:pPr>
            <a:r>
              <a:rPr lang="en-US" sz="2250" dirty="0">
                <a:solidFill>
                  <a:srgbClr val="404155"/>
                </a:solidFill>
                <a:latin typeface="Corben" pitchFamily="34" charset="0"/>
                <a:ea typeface="Corben" pitchFamily="34" charset="-122"/>
                <a:cs typeface="Corben" pitchFamily="34" charset="-120"/>
              </a:rPr>
              <a:t>2</a:t>
            </a:r>
            <a:endParaRPr lang="en-US" sz="2250" dirty="0"/>
          </a:p>
        </p:txBody>
      </p:sp>
      <p:sp>
        <p:nvSpPr>
          <p:cNvPr id="10" name="Text 7"/>
          <p:cNvSpPr/>
          <p:nvPr/>
        </p:nvSpPr>
        <p:spPr>
          <a:xfrm>
            <a:off x="8033861" y="4625221"/>
            <a:ext cx="3110865" cy="299442"/>
          </a:xfrm>
          <a:prstGeom prst="rect">
            <a:avLst/>
          </a:prstGeom>
          <a:noFill/>
          <a:ln/>
        </p:spPr>
        <p:txBody>
          <a:bodyPr wrap="none" lIns="0" tIns="0" rIns="0" bIns="0" rtlCol="0" anchor="t"/>
          <a:lstStyle/>
          <a:p>
            <a:pPr marL="0" indent="0">
              <a:lnSpc>
                <a:spcPts val="2350"/>
              </a:lnSpc>
              <a:buNone/>
            </a:pPr>
            <a:r>
              <a:rPr lang="en-US" sz="1850" dirty="0">
                <a:solidFill>
                  <a:srgbClr val="404155"/>
                </a:solidFill>
                <a:latin typeface="Corben" pitchFamily="34" charset="0"/>
                <a:ea typeface="Corben" pitchFamily="34" charset="-122"/>
                <a:cs typeface="Corben" pitchFamily="34" charset="-120"/>
              </a:rPr>
              <a:t>Seamless Checkout Process</a:t>
            </a:r>
            <a:endParaRPr lang="en-US" sz="1850" dirty="0"/>
          </a:p>
        </p:txBody>
      </p:sp>
      <p:sp>
        <p:nvSpPr>
          <p:cNvPr id="11" name="Text 8"/>
          <p:cNvSpPr/>
          <p:nvPr/>
        </p:nvSpPr>
        <p:spPr>
          <a:xfrm>
            <a:off x="8033861" y="5039558"/>
            <a:ext cx="5925860" cy="920115"/>
          </a:xfrm>
          <a:prstGeom prst="rect">
            <a:avLst/>
          </a:prstGeom>
          <a:noFill/>
          <a:ln/>
        </p:spPr>
        <p:txBody>
          <a:bodyPr wrap="square" lIns="0" tIns="0" rIns="0" bIns="0" rtlCol="0" anchor="t"/>
          <a:lstStyle/>
          <a:p>
            <a:pPr marL="0" indent="0">
              <a:lnSpc>
                <a:spcPts val="2400"/>
              </a:lnSpc>
              <a:buNone/>
            </a:pPr>
            <a:r>
              <a:rPr lang="en-US" sz="1500" dirty="0">
                <a:solidFill>
                  <a:srgbClr val="404155"/>
                </a:solidFill>
                <a:latin typeface="Nobile" pitchFamily="34" charset="0"/>
                <a:ea typeface="Nobile" pitchFamily="34" charset="-122"/>
                <a:cs typeface="Nobile" pitchFamily="34" charset="-120"/>
              </a:rPr>
              <a:t>A streamlined checkout experience reduces friction points, leading to higher customer satisfaction and increased completion rates.</a:t>
            </a:r>
            <a:endParaRPr lang="en-US" sz="1500" dirty="0"/>
          </a:p>
        </p:txBody>
      </p:sp>
      <p:sp>
        <p:nvSpPr>
          <p:cNvPr id="12" name="Shape 9"/>
          <p:cNvSpPr/>
          <p:nvPr/>
        </p:nvSpPr>
        <p:spPr>
          <a:xfrm>
            <a:off x="670798" y="6366867"/>
            <a:ext cx="431244" cy="431244"/>
          </a:xfrm>
          <a:prstGeom prst="roundRect">
            <a:avLst>
              <a:gd name="adj" fmla="val 18669"/>
            </a:avLst>
          </a:prstGeom>
          <a:solidFill>
            <a:srgbClr val="D2D9F9"/>
          </a:solidFill>
          <a:ln w="7620">
            <a:solidFill>
              <a:srgbClr val="B8BFDF"/>
            </a:solidFill>
            <a:prstDash val="solid"/>
          </a:ln>
        </p:spPr>
      </p:sp>
      <p:sp>
        <p:nvSpPr>
          <p:cNvPr id="13" name="Text 10"/>
          <p:cNvSpPr/>
          <p:nvPr/>
        </p:nvSpPr>
        <p:spPr>
          <a:xfrm>
            <a:off x="805696" y="6438662"/>
            <a:ext cx="161449" cy="287536"/>
          </a:xfrm>
          <a:prstGeom prst="rect">
            <a:avLst/>
          </a:prstGeom>
          <a:noFill/>
          <a:ln/>
        </p:spPr>
        <p:txBody>
          <a:bodyPr wrap="none" lIns="0" tIns="0" rIns="0" bIns="0" rtlCol="0" anchor="t"/>
          <a:lstStyle/>
          <a:p>
            <a:pPr marL="0" indent="0" algn="ctr">
              <a:lnSpc>
                <a:spcPts val="2250"/>
              </a:lnSpc>
              <a:buNone/>
            </a:pPr>
            <a:r>
              <a:rPr lang="en-US" sz="2250" dirty="0">
                <a:solidFill>
                  <a:srgbClr val="404155"/>
                </a:solidFill>
                <a:latin typeface="Corben" pitchFamily="34" charset="0"/>
                <a:ea typeface="Corben" pitchFamily="34" charset="-122"/>
                <a:cs typeface="Corben" pitchFamily="34" charset="-120"/>
              </a:rPr>
              <a:t>3</a:t>
            </a:r>
            <a:endParaRPr lang="en-US" sz="2250" dirty="0"/>
          </a:p>
        </p:txBody>
      </p:sp>
      <p:sp>
        <p:nvSpPr>
          <p:cNvPr id="14" name="Text 11"/>
          <p:cNvSpPr/>
          <p:nvPr/>
        </p:nvSpPr>
        <p:spPr>
          <a:xfrm>
            <a:off x="1293614" y="6366867"/>
            <a:ext cx="3845600" cy="299442"/>
          </a:xfrm>
          <a:prstGeom prst="rect">
            <a:avLst/>
          </a:prstGeom>
          <a:noFill/>
          <a:ln/>
        </p:spPr>
        <p:txBody>
          <a:bodyPr wrap="none" lIns="0" tIns="0" rIns="0" bIns="0" rtlCol="0" anchor="t"/>
          <a:lstStyle/>
          <a:p>
            <a:pPr marL="0" indent="0">
              <a:lnSpc>
                <a:spcPts val="2350"/>
              </a:lnSpc>
              <a:buNone/>
            </a:pPr>
            <a:r>
              <a:rPr lang="en-US" sz="1850" dirty="0">
                <a:solidFill>
                  <a:srgbClr val="404155"/>
                </a:solidFill>
                <a:latin typeface="Corben" pitchFamily="34" charset="0"/>
                <a:ea typeface="Corben" pitchFamily="34" charset="-122"/>
                <a:cs typeface="Corben" pitchFamily="34" charset="-120"/>
              </a:rPr>
              <a:t>Interactive Product Visualizations</a:t>
            </a:r>
            <a:endParaRPr lang="en-US" sz="1850" dirty="0"/>
          </a:p>
        </p:txBody>
      </p:sp>
      <p:sp>
        <p:nvSpPr>
          <p:cNvPr id="15" name="Text 12"/>
          <p:cNvSpPr/>
          <p:nvPr/>
        </p:nvSpPr>
        <p:spPr>
          <a:xfrm>
            <a:off x="1293614" y="6781205"/>
            <a:ext cx="5925860" cy="920115"/>
          </a:xfrm>
          <a:prstGeom prst="rect">
            <a:avLst/>
          </a:prstGeom>
          <a:noFill/>
          <a:ln/>
        </p:spPr>
        <p:txBody>
          <a:bodyPr wrap="square" lIns="0" tIns="0" rIns="0" bIns="0" rtlCol="0" anchor="t"/>
          <a:lstStyle/>
          <a:p>
            <a:pPr marL="0" indent="0">
              <a:lnSpc>
                <a:spcPts val="2400"/>
              </a:lnSpc>
              <a:buNone/>
            </a:pPr>
            <a:r>
              <a:rPr lang="en-US" sz="1500" dirty="0">
                <a:solidFill>
                  <a:srgbClr val="404155"/>
                </a:solidFill>
                <a:latin typeface="Nobile" pitchFamily="34" charset="0"/>
                <a:ea typeface="Nobile" pitchFamily="34" charset="-122"/>
                <a:cs typeface="Nobile" pitchFamily="34" charset="-120"/>
              </a:rPr>
              <a:t>EcomEra incorporates 360-degree product views and augmented reality features, allowing customers to experience products in a realistic way.</a:t>
            </a:r>
            <a:endParaRPr lang="en-US" sz="1500" dirty="0"/>
          </a:p>
        </p:txBody>
      </p:sp>
      <p:sp>
        <p:nvSpPr>
          <p:cNvPr id="16" name="Shape 13"/>
          <p:cNvSpPr/>
          <p:nvPr/>
        </p:nvSpPr>
        <p:spPr>
          <a:xfrm>
            <a:off x="7411045" y="6366867"/>
            <a:ext cx="431244" cy="431244"/>
          </a:xfrm>
          <a:prstGeom prst="roundRect">
            <a:avLst>
              <a:gd name="adj" fmla="val 18669"/>
            </a:avLst>
          </a:prstGeom>
          <a:solidFill>
            <a:srgbClr val="D2D9F9"/>
          </a:solidFill>
          <a:ln w="7620">
            <a:solidFill>
              <a:srgbClr val="B8BFDF"/>
            </a:solidFill>
            <a:prstDash val="solid"/>
          </a:ln>
        </p:spPr>
      </p:sp>
      <p:sp>
        <p:nvSpPr>
          <p:cNvPr id="17" name="Text 14"/>
          <p:cNvSpPr/>
          <p:nvPr/>
        </p:nvSpPr>
        <p:spPr>
          <a:xfrm>
            <a:off x="7553563" y="6438662"/>
            <a:ext cx="146209" cy="287536"/>
          </a:xfrm>
          <a:prstGeom prst="rect">
            <a:avLst/>
          </a:prstGeom>
          <a:noFill/>
          <a:ln/>
        </p:spPr>
        <p:txBody>
          <a:bodyPr wrap="none" lIns="0" tIns="0" rIns="0" bIns="0" rtlCol="0" anchor="t"/>
          <a:lstStyle/>
          <a:p>
            <a:pPr marL="0" indent="0" algn="ctr">
              <a:lnSpc>
                <a:spcPts val="2250"/>
              </a:lnSpc>
              <a:buNone/>
            </a:pPr>
            <a:r>
              <a:rPr lang="en-US" sz="2250" dirty="0">
                <a:solidFill>
                  <a:srgbClr val="404155"/>
                </a:solidFill>
                <a:latin typeface="Corben" pitchFamily="34" charset="0"/>
                <a:ea typeface="Corben" pitchFamily="34" charset="-122"/>
                <a:cs typeface="Corben" pitchFamily="34" charset="-120"/>
              </a:rPr>
              <a:t>4</a:t>
            </a:r>
            <a:endParaRPr lang="en-US" sz="2250" dirty="0"/>
          </a:p>
        </p:txBody>
      </p:sp>
      <p:sp>
        <p:nvSpPr>
          <p:cNvPr id="18" name="Text 15"/>
          <p:cNvSpPr/>
          <p:nvPr/>
        </p:nvSpPr>
        <p:spPr>
          <a:xfrm>
            <a:off x="8033861" y="6366867"/>
            <a:ext cx="2396014" cy="299442"/>
          </a:xfrm>
          <a:prstGeom prst="rect">
            <a:avLst/>
          </a:prstGeom>
          <a:noFill/>
          <a:ln/>
        </p:spPr>
        <p:txBody>
          <a:bodyPr wrap="none" lIns="0" tIns="0" rIns="0" bIns="0" rtlCol="0" anchor="t"/>
          <a:lstStyle/>
          <a:p>
            <a:pPr marL="0" indent="0">
              <a:lnSpc>
                <a:spcPts val="2350"/>
              </a:lnSpc>
              <a:buNone/>
            </a:pPr>
            <a:r>
              <a:rPr lang="en-US" sz="1850" dirty="0">
                <a:solidFill>
                  <a:srgbClr val="404155"/>
                </a:solidFill>
                <a:latin typeface="Corben" pitchFamily="34" charset="0"/>
                <a:ea typeface="Corben" pitchFamily="34" charset="-122"/>
                <a:cs typeface="Corben" pitchFamily="34" charset="-120"/>
              </a:rPr>
              <a:t>Live Chat Support</a:t>
            </a:r>
            <a:endParaRPr lang="en-US" sz="1850" dirty="0"/>
          </a:p>
        </p:txBody>
      </p:sp>
      <p:sp>
        <p:nvSpPr>
          <p:cNvPr id="19" name="Text 16"/>
          <p:cNvSpPr/>
          <p:nvPr/>
        </p:nvSpPr>
        <p:spPr>
          <a:xfrm>
            <a:off x="8033861" y="6781205"/>
            <a:ext cx="5925860" cy="920115"/>
          </a:xfrm>
          <a:prstGeom prst="rect">
            <a:avLst/>
          </a:prstGeom>
          <a:noFill/>
          <a:ln/>
        </p:spPr>
        <p:txBody>
          <a:bodyPr wrap="square" lIns="0" tIns="0" rIns="0" bIns="0" rtlCol="0" anchor="t"/>
          <a:lstStyle/>
          <a:p>
            <a:pPr marL="0" indent="0">
              <a:lnSpc>
                <a:spcPts val="2400"/>
              </a:lnSpc>
              <a:buNone/>
            </a:pPr>
            <a:r>
              <a:rPr lang="en-US" sz="1500" dirty="0">
                <a:solidFill>
                  <a:srgbClr val="404155"/>
                </a:solidFill>
                <a:latin typeface="Nobile" pitchFamily="34" charset="0"/>
                <a:ea typeface="Nobile" pitchFamily="34" charset="-122"/>
                <a:cs typeface="Nobile" pitchFamily="34" charset="-120"/>
              </a:rPr>
              <a:t>Real-time assistance from customer service agents ensures quick resolution of queries and enhances the overall user experience.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004060"/>
            <a:ext cx="13042821" cy="1417558"/>
          </a:xfrm>
          <a:prstGeom prst="rect">
            <a:avLst/>
          </a:prstGeom>
          <a:noFill/>
          <a:ln/>
        </p:spPr>
        <p:txBody>
          <a:bodyPr wrap="square" lIns="0" tIns="0" rIns="0" bIns="0" rtlCol="0" anchor="t"/>
          <a:lstStyle/>
          <a:p>
            <a:pPr marL="0" indent="0">
              <a:lnSpc>
                <a:spcPts val="5550"/>
              </a:lnSpc>
              <a:buNone/>
            </a:pPr>
            <a:r>
              <a:rPr lang="en-US" sz="4450" dirty="0">
                <a:solidFill>
                  <a:srgbClr val="1B1B27"/>
                </a:solidFill>
                <a:latin typeface="Corben" pitchFamily="34" charset="0"/>
                <a:ea typeface="Corben" pitchFamily="34" charset="-122"/>
                <a:cs typeface="Corben" pitchFamily="34" charset="-120"/>
              </a:rPr>
              <a:t>Market Analysis: Identifying Opportunities and Addressing User Needs</a:t>
            </a:r>
            <a:endParaRPr lang="en-US" sz="4450" dirty="0"/>
          </a:p>
        </p:txBody>
      </p:sp>
      <p:sp>
        <p:nvSpPr>
          <p:cNvPr id="3" name="Text 1"/>
          <p:cNvSpPr/>
          <p:nvPr/>
        </p:nvSpPr>
        <p:spPr>
          <a:xfrm>
            <a:off x="793790" y="3988594"/>
            <a:ext cx="3944303" cy="354330"/>
          </a:xfrm>
          <a:prstGeom prst="rect">
            <a:avLst/>
          </a:prstGeom>
          <a:noFill/>
          <a:ln/>
        </p:spPr>
        <p:txBody>
          <a:bodyPr wrap="none" lIns="0" tIns="0" rIns="0" bIns="0" rtlCol="0" anchor="t"/>
          <a:lstStyle/>
          <a:p>
            <a:pPr marL="0" indent="0">
              <a:lnSpc>
                <a:spcPts val="2750"/>
              </a:lnSpc>
              <a:buNone/>
            </a:pPr>
            <a:r>
              <a:rPr lang="en-US" sz="2200" dirty="0">
                <a:solidFill>
                  <a:srgbClr val="1B1B27"/>
                </a:solidFill>
                <a:latin typeface="Corben" pitchFamily="34" charset="0"/>
                <a:ea typeface="Corben" pitchFamily="34" charset="-122"/>
                <a:cs typeface="Corben" pitchFamily="34" charset="-120"/>
              </a:rPr>
              <a:t>Growing E-commerce Market</a:t>
            </a:r>
            <a:endParaRPr lang="en-US" sz="2200" dirty="0"/>
          </a:p>
        </p:txBody>
      </p:sp>
      <p:sp>
        <p:nvSpPr>
          <p:cNvPr id="4" name="Text 2"/>
          <p:cNvSpPr/>
          <p:nvPr/>
        </p:nvSpPr>
        <p:spPr>
          <a:xfrm>
            <a:off x="793790" y="4569738"/>
            <a:ext cx="3978116" cy="1451610"/>
          </a:xfrm>
          <a:prstGeom prst="rect">
            <a:avLst/>
          </a:prstGeom>
          <a:noFill/>
          <a:ln/>
        </p:spPr>
        <p:txBody>
          <a:bodyPr wrap="square" lIns="0" tIns="0" rIns="0" bIns="0" rtlCol="0" anchor="t"/>
          <a:lstStyle/>
          <a:p>
            <a:pPr marL="0" indent="0">
              <a:lnSpc>
                <a:spcPts val="2850"/>
              </a:lnSpc>
              <a:buNone/>
            </a:pPr>
            <a:r>
              <a:rPr lang="en-US" sz="1750" dirty="0">
                <a:solidFill>
                  <a:srgbClr val="404155"/>
                </a:solidFill>
                <a:latin typeface="Nobile" pitchFamily="34" charset="0"/>
                <a:ea typeface="Nobile" pitchFamily="34" charset="-122"/>
                <a:cs typeface="Nobile" pitchFamily="34" charset="-120"/>
              </a:rPr>
              <a:t>The e-commerce market is experiencing rapid growth, driven by the increasing adoption of online shopping.</a:t>
            </a:r>
            <a:endParaRPr lang="en-US" sz="1750" dirty="0"/>
          </a:p>
        </p:txBody>
      </p:sp>
      <p:sp>
        <p:nvSpPr>
          <p:cNvPr id="5" name="Text 3"/>
          <p:cNvSpPr/>
          <p:nvPr/>
        </p:nvSpPr>
        <p:spPr>
          <a:xfrm>
            <a:off x="5332928" y="3988594"/>
            <a:ext cx="3116580" cy="354330"/>
          </a:xfrm>
          <a:prstGeom prst="rect">
            <a:avLst/>
          </a:prstGeom>
          <a:noFill/>
          <a:ln/>
        </p:spPr>
        <p:txBody>
          <a:bodyPr wrap="none" lIns="0" tIns="0" rIns="0" bIns="0" rtlCol="0" anchor="t"/>
          <a:lstStyle/>
          <a:p>
            <a:pPr marL="0" indent="0">
              <a:lnSpc>
                <a:spcPts val="2750"/>
              </a:lnSpc>
              <a:buNone/>
            </a:pPr>
            <a:r>
              <a:rPr lang="en-US" sz="2200" dirty="0">
                <a:solidFill>
                  <a:srgbClr val="1B1B27"/>
                </a:solidFill>
                <a:latin typeface="Corben" pitchFamily="34" charset="0"/>
                <a:ea typeface="Corben" pitchFamily="34" charset="-122"/>
                <a:cs typeface="Corben" pitchFamily="34" charset="-120"/>
              </a:rPr>
              <a:t>Customer Expectations</a:t>
            </a:r>
            <a:endParaRPr lang="en-US" sz="2200" dirty="0"/>
          </a:p>
        </p:txBody>
      </p:sp>
      <p:sp>
        <p:nvSpPr>
          <p:cNvPr id="6" name="Text 4"/>
          <p:cNvSpPr/>
          <p:nvPr/>
        </p:nvSpPr>
        <p:spPr>
          <a:xfrm>
            <a:off x="5332928" y="4569738"/>
            <a:ext cx="3978116" cy="1451610"/>
          </a:xfrm>
          <a:prstGeom prst="rect">
            <a:avLst/>
          </a:prstGeom>
          <a:noFill/>
          <a:ln/>
        </p:spPr>
        <p:txBody>
          <a:bodyPr wrap="square" lIns="0" tIns="0" rIns="0" bIns="0" rtlCol="0" anchor="t"/>
          <a:lstStyle/>
          <a:p>
            <a:pPr marL="0" indent="0">
              <a:lnSpc>
                <a:spcPts val="2850"/>
              </a:lnSpc>
              <a:buNone/>
            </a:pPr>
            <a:r>
              <a:rPr lang="en-US" sz="1750" dirty="0">
                <a:solidFill>
                  <a:srgbClr val="404155"/>
                </a:solidFill>
                <a:latin typeface="Nobile" pitchFamily="34" charset="0"/>
                <a:ea typeface="Nobile" pitchFamily="34" charset="-122"/>
                <a:cs typeface="Nobile" pitchFamily="34" charset="-120"/>
              </a:rPr>
              <a:t>Modern consumers demand personalized experiences, seamless checkout, and excellent customer support.</a:t>
            </a:r>
            <a:endParaRPr lang="en-US" sz="1750" dirty="0"/>
          </a:p>
        </p:txBody>
      </p:sp>
      <p:sp>
        <p:nvSpPr>
          <p:cNvPr id="7" name="Text 5"/>
          <p:cNvSpPr/>
          <p:nvPr/>
        </p:nvSpPr>
        <p:spPr>
          <a:xfrm>
            <a:off x="9872067" y="3988594"/>
            <a:ext cx="3115985" cy="354330"/>
          </a:xfrm>
          <a:prstGeom prst="rect">
            <a:avLst/>
          </a:prstGeom>
          <a:noFill/>
          <a:ln/>
        </p:spPr>
        <p:txBody>
          <a:bodyPr wrap="none" lIns="0" tIns="0" rIns="0" bIns="0" rtlCol="0" anchor="t"/>
          <a:lstStyle/>
          <a:p>
            <a:pPr marL="0" indent="0">
              <a:lnSpc>
                <a:spcPts val="2750"/>
              </a:lnSpc>
              <a:buNone/>
            </a:pPr>
            <a:r>
              <a:rPr lang="en-US" sz="2200" dirty="0">
                <a:solidFill>
                  <a:srgbClr val="1B1B27"/>
                </a:solidFill>
                <a:latin typeface="Corben" pitchFamily="34" charset="0"/>
                <a:ea typeface="Corben" pitchFamily="34" charset="-122"/>
                <a:cs typeface="Corben" pitchFamily="34" charset="-120"/>
              </a:rPr>
              <a:t>Competitive Landscape</a:t>
            </a:r>
            <a:endParaRPr lang="en-US" sz="2200" dirty="0"/>
          </a:p>
        </p:txBody>
      </p:sp>
      <p:sp>
        <p:nvSpPr>
          <p:cNvPr id="8" name="Text 6"/>
          <p:cNvSpPr/>
          <p:nvPr/>
        </p:nvSpPr>
        <p:spPr>
          <a:xfrm>
            <a:off x="9872067" y="4569738"/>
            <a:ext cx="3978116" cy="1451610"/>
          </a:xfrm>
          <a:prstGeom prst="rect">
            <a:avLst/>
          </a:prstGeom>
          <a:noFill/>
          <a:ln/>
        </p:spPr>
        <p:txBody>
          <a:bodyPr wrap="square" lIns="0" tIns="0" rIns="0" bIns="0" rtlCol="0" anchor="t"/>
          <a:lstStyle/>
          <a:p>
            <a:pPr marL="0" indent="0">
              <a:lnSpc>
                <a:spcPts val="2850"/>
              </a:lnSpc>
              <a:buNone/>
            </a:pPr>
            <a:r>
              <a:rPr lang="en-US" sz="1750" dirty="0">
                <a:solidFill>
                  <a:srgbClr val="404155"/>
                </a:solidFill>
                <a:latin typeface="Nobile" pitchFamily="34" charset="0"/>
                <a:ea typeface="Nobile" pitchFamily="34" charset="-122"/>
                <a:cs typeface="Nobile" pitchFamily="34" charset="-120"/>
              </a:rPr>
              <a:t>EcomEra must differentiate itself from existing platforms by offering unique features and innovative solutions.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96754" y="547568"/>
            <a:ext cx="7750493" cy="1866305"/>
          </a:xfrm>
          <a:prstGeom prst="rect">
            <a:avLst/>
          </a:prstGeom>
          <a:noFill/>
          <a:ln/>
        </p:spPr>
        <p:txBody>
          <a:bodyPr wrap="square" lIns="0" tIns="0" rIns="0" bIns="0" rtlCol="0" anchor="t"/>
          <a:lstStyle/>
          <a:p>
            <a:pPr marL="0" indent="0">
              <a:lnSpc>
                <a:spcPts val="4850"/>
              </a:lnSpc>
              <a:buNone/>
            </a:pPr>
            <a:r>
              <a:rPr lang="en-US" sz="3900" dirty="0">
                <a:solidFill>
                  <a:srgbClr val="1B1B27"/>
                </a:solidFill>
                <a:latin typeface="Corben" pitchFamily="34" charset="0"/>
                <a:ea typeface="Corben" pitchFamily="34" charset="-122"/>
                <a:cs typeface="Corben" pitchFamily="34" charset="-120"/>
              </a:rPr>
              <a:t>Applying HCI Principles: Feedback, Consistency, and Error Prevention</a:t>
            </a:r>
            <a:endParaRPr lang="en-US" sz="3900" dirty="0"/>
          </a:p>
        </p:txBody>
      </p:sp>
      <p:pic>
        <p:nvPicPr>
          <p:cNvPr id="4" name="Image 1" descr="preencoded.png"/>
          <p:cNvPicPr>
            <a:picLocks noChangeAspect="1"/>
          </p:cNvPicPr>
          <p:nvPr/>
        </p:nvPicPr>
        <p:blipFill>
          <a:blip r:embed="rId4"/>
          <a:stretch>
            <a:fillRect/>
          </a:stretch>
        </p:blipFill>
        <p:spPr>
          <a:xfrm>
            <a:off x="696754" y="2712482"/>
            <a:ext cx="995363" cy="1592699"/>
          </a:xfrm>
          <a:prstGeom prst="rect">
            <a:avLst/>
          </a:prstGeom>
        </p:spPr>
      </p:pic>
      <p:sp>
        <p:nvSpPr>
          <p:cNvPr id="5" name="Text 1"/>
          <p:cNvSpPr/>
          <p:nvPr/>
        </p:nvSpPr>
        <p:spPr>
          <a:xfrm>
            <a:off x="1990725" y="2911554"/>
            <a:ext cx="2488525" cy="310991"/>
          </a:xfrm>
          <a:prstGeom prst="rect">
            <a:avLst/>
          </a:prstGeom>
          <a:noFill/>
          <a:ln/>
        </p:spPr>
        <p:txBody>
          <a:bodyPr wrap="none" lIns="0" tIns="0" rIns="0" bIns="0" rtlCol="0" anchor="t"/>
          <a:lstStyle/>
          <a:p>
            <a:pPr marL="0" indent="0" algn="l">
              <a:lnSpc>
                <a:spcPts val="2400"/>
              </a:lnSpc>
              <a:buNone/>
            </a:pPr>
            <a:r>
              <a:rPr lang="en-US" sz="1950" dirty="0">
                <a:solidFill>
                  <a:srgbClr val="404155"/>
                </a:solidFill>
                <a:latin typeface="Corben" pitchFamily="34" charset="0"/>
                <a:ea typeface="Corben" pitchFamily="34" charset="-122"/>
                <a:cs typeface="Corben" pitchFamily="34" charset="-120"/>
              </a:rPr>
              <a:t>Feedback</a:t>
            </a:r>
            <a:endParaRPr lang="en-US" sz="1950" dirty="0"/>
          </a:p>
        </p:txBody>
      </p:sp>
      <p:sp>
        <p:nvSpPr>
          <p:cNvPr id="6" name="Text 2"/>
          <p:cNvSpPr/>
          <p:nvPr/>
        </p:nvSpPr>
        <p:spPr>
          <a:xfrm>
            <a:off x="1990725" y="3341965"/>
            <a:ext cx="6456521" cy="636984"/>
          </a:xfrm>
          <a:prstGeom prst="rect">
            <a:avLst/>
          </a:prstGeom>
          <a:noFill/>
          <a:ln/>
        </p:spPr>
        <p:txBody>
          <a:bodyPr wrap="square" lIns="0" tIns="0" rIns="0" bIns="0" rtlCol="0" anchor="t"/>
          <a:lstStyle/>
          <a:p>
            <a:pPr marL="0" indent="0" algn="l">
              <a:lnSpc>
                <a:spcPts val="2500"/>
              </a:lnSpc>
              <a:buNone/>
            </a:pPr>
            <a:r>
              <a:rPr lang="en-US" sz="1550" dirty="0">
                <a:solidFill>
                  <a:srgbClr val="404155"/>
                </a:solidFill>
                <a:latin typeface="Nobile" pitchFamily="34" charset="0"/>
                <a:ea typeface="Nobile" pitchFamily="34" charset="-122"/>
                <a:cs typeface="Nobile" pitchFamily="34" charset="-120"/>
              </a:rPr>
              <a:t>EcomEra provides clear and timely feedback to users throughout their journey, informing them of their actions and system status.</a:t>
            </a:r>
            <a:endParaRPr lang="en-US" sz="1550" dirty="0"/>
          </a:p>
        </p:txBody>
      </p:sp>
      <p:pic>
        <p:nvPicPr>
          <p:cNvPr id="7" name="Image 2" descr="preencoded.png"/>
          <p:cNvPicPr>
            <a:picLocks noChangeAspect="1"/>
          </p:cNvPicPr>
          <p:nvPr/>
        </p:nvPicPr>
        <p:blipFill>
          <a:blip r:embed="rId5"/>
          <a:stretch>
            <a:fillRect/>
          </a:stretch>
        </p:blipFill>
        <p:spPr>
          <a:xfrm>
            <a:off x="696754" y="4305181"/>
            <a:ext cx="995363" cy="1592699"/>
          </a:xfrm>
          <a:prstGeom prst="rect">
            <a:avLst/>
          </a:prstGeom>
        </p:spPr>
      </p:pic>
      <p:sp>
        <p:nvSpPr>
          <p:cNvPr id="8" name="Text 3"/>
          <p:cNvSpPr/>
          <p:nvPr/>
        </p:nvSpPr>
        <p:spPr>
          <a:xfrm>
            <a:off x="1990725" y="4504253"/>
            <a:ext cx="2488525" cy="310991"/>
          </a:xfrm>
          <a:prstGeom prst="rect">
            <a:avLst/>
          </a:prstGeom>
          <a:noFill/>
          <a:ln/>
        </p:spPr>
        <p:txBody>
          <a:bodyPr wrap="none" lIns="0" tIns="0" rIns="0" bIns="0" rtlCol="0" anchor="t"/>
          <a:lstStyle/>
          <a:p>
            <a:pPr marL="0" indent="0" algn="l">
              <a:lnSpc>
                <a:spcPts val="2400"/>
              </a:lnSpc>
              <a:buNone/>
            </a:pPr>
            <a:r>
              <a:rPr lang="en-US" sz="1950" dirty="0">
                <a:solidFill>
                  <a:srgbClr val="404155"/>
                </a:solidFill>
                <a:latin typeface="Corben" pitchFamily="34" charset="0"/>
                <a:ea typeface="Corben" pitchFamily="34" charset="-122"/>
                <a:cs typeface="Corben" pitchFamily="34" charset="-120"/>
              </a:rPr>
              <a:t>Consistency</a:t>
            </a:r>
            <a:endParaRPr lang="en-US" sz="1950" dirty="0"/>
          </a:p>
        </p:txBody>
      </p:sp>
      <p:sp>
        <p:nvSpPr>
          <p:cNvPr id="9" name="Text 4"/>
          <p:cNvSpPr/>
          <p:nvPr/>
        </p:nvSpPr>
        <p:spPr>
          <a:xfrm>
            <a:off x="1990725" y="4934664"/>
            <a:ext cx="6456521" cy="636984"/>
          </a:xfrm>
          <a:prstGeom prst="rect">
            <a:avLst/>
          </a:prstGeom>
          <a:noFill/>
          <a:ln/>
        </p:spPr>
        <p:txBody>
          <a:bodyPr wrap="square" lIns="0" tIns="0" rIns="0" bIns="0" rtlCol="0" anchor="t"/>
          <a:lstStyle/>
          <a:p>
            <a:pPr marL="0" indent="0" algn="l">
              <a:lnSpc>
                <a:spcPts val="2500"/>
              </a:lnSpc>
              <a:buNone/>
            </a:pPr>
            <a:r>
              <a:rPr lang="en-US" sz="1550" dirty="0">
                <a:solidFill>
                  <a:srgbClr val="404155"/>
                </a:solidFill>
                <a:latin typeface="Nobile" pitchFamily="34" charset="0"/>
                <a:ea typeface="Nobile" pitchFamily="34" charset="-122"/>
                <a:cs typeface="Nobile" pitchFamily="34" charset="-120"/>
              </a:rPr>
              <a:t>A consistent interface design ensures users can navigate and interact with the platform seamlessly and intuitively.</a:t>
            </a:r>
            <a:endParaRPr lang="en-US" sz="1550" dirty="0"/>
          </a:p>
        </p:txBody>
      </p:sp>
      <p:pic>
        <p:nvPicPr>
          <p:cNvPr id="10" name="Image 3" descr="preencoded.png"/>
          <p:cNvPicPr>
            <a:picLocks noChangeAspect="1"/>
          </p:cNvPicPr>
          <p:nvPr/>
        </p:nvPicPr>
        <p:blipFill>
          <a:blip r:embed="rId6"/>
          <a:stretch>
            <a:fillRect/>
          </a:stretch>
        </p:blipFill>
        <p:spPr>
          <a:xfrm>
            <a:off x="696754" y="5897880"/>
            <a:ext cx="995363" cy="1784033"/>
          </a:xfrm>
          <a:prstGeom prst="rect">
            <a:avLst/>
          </a:prstGeom>
        </p:spPr>
      </p:pic>
      <p:sp>
        <p:nvSpPr>
          <p:cNvPr id="11" name="Text 5"/>
          <p:cNvSpPr/>
          <p:nvPr/>
        </p:nvSpPr>
        <p:spPr>
          <a:xfrm>
            <a:off x="1990725" y="6096953"/>
            <a:ext cx="2488525" cy="310991"/>
          </a:xfrm>
          <a:prstGeom prst="rect">
            <a:avLst/>
          </a:prstGeom>
          <a:noFill/>
          <a:ln/>
        </p:spPr>
        <p:txBody>
          <a:bodyPr wrap="none" lIns="0" tIns="0" rIns="0" bIns="0" rtlCol="0" anchor="t"/>
          <a:lstStyle/>
          <a:p>
            <a:pPr marL="0" indent="0" algn="l">
              <a:lnSpc>
                <a:spcPts val="2400"/>
              </a:lnSpc>
              <a:buNone/>
            </a:pPr>
            <a:r>
              <a:rPr lang="en-US" sz="1950" dirty="0">
                <a:solidFill>
                  <a:srgbClr val="404155"/>
                </a:solidFill>
                <a:latin typeface="Corben" pitchFamily="34" charset="0"/>
                <a:ea typeface="Corben" pitchFamily="34" charset="-122"/>
                <a:cs typeface="Corben" pitchFamily="34" charset="-120"/>
              </a:rPr>
              <a:t>Error Prevention</a:t>
            </a:r>
            <a:endParaRPr lang="en-US" sz="1950" dirty="0"/>
          </a:p>
        </p:txBody>
      </p:sp>
      <p:sp>
        <p:nvSpPr>
          <p:cNvPr id="12" name="Text 6"/>
          <p:cNvSpPr/>
          <p:nvPr/>
        </p:nvSpPr>
        <p:spPr>
          <a:xfrm>
            <a:off x="1990725" y="6527363"/>
            <a:ext cx="6456521" cy="955477"/>
          </a:xfrm>
          <a:prstGeom prst="rect">
            <a:avLst/>
          </a:prstGeom>
          <a:noFill/>
          <a:ln/>
        </p:spPr>
        <p:txBody>
          <a:bodyPr wrap="square" lIns="0" tIns="0" rIns="0" bIns="0" rtlCol="0" anchor="t"/>
          <a:lstStyle/>
          <a:p>
            <a:pPr marL="0" indent="0" algn="l">
              <a:lnSpc>
                <a:spcPts val="2500"/>
              </a:lnSpc>
              <a:buNone/>
            </a:pPr>
            <a:r>
              <a:rPr lang="en-US" sz="1550" dirty="0">
                <a:solidFill>
                  <a:srgbClr val="404155"/>
                </a:solidFill>
                <a:latin typeface="Nobile" pitchFamily="34" charset="0"/>
                <a:ea typeface="Nobile" pitchFamily="34" charset="-122"/>
                <a:cs typeface="Nobile" pitchFamily="34" charset="-120"/>
              </a:rPr>
              <a:t>EcomEra incorporates design elements that minimize errors, such as input validation and clear instructions, to prevent user frustration.</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51748"/>
          </a:xfrm>
          <a:prstGeom prst="rect">
            <a:avLst/>
          </a:prstGeom>
        </p:spPr>
      </p:pic>
      <p:sp>
        <p:nvSpPr>
          <p:cNvPr id="3" name="Text 0"/>
          <p:cNvSpPr/>
          <p:nvPr/>
        </p:nvSpPr>
        <p:spPr>
          <a:xfrm>
            <a:off x="714494" y="3113246"/>
            <a:ext cx="13201412" cy="1275874"/>
          </a:xfrm>
          <a:prstGeom prst="rect">
            <a:avLst/>
          </a:prstGeom>
          <a:noFill/>
          <a:ln/>
        </p:spPr>
        <p:txBody>
          <a:bodyPr wrap="square" lIns="0" tIns="0" rIns="0" bIns="0" rtlCol="0" anchor="t"/>
          <a:lstStyle/>
          <a:p>
            <a:pPr marL="0" indent="0">
              <a:lnSpc>
                <a:spcPts val="5000"/>
              </a:lnSpc>
              <a:buNone/>
            </a:pPr>
            <a:r>
              <a:rPr lang="en-US" sz="4000" dirty="0">
                <a:solidFill>
                  <a:srgbClr val="1B1B27"/>
                </a:solidFill>
                <a:latin typeface="Corben" pitchFamily="34" charset="0"/>
                <a:ea typeface="Corben" pitchFamily="34" charset="-122"/>
                <a:cs typeface="Corben" pitchFamily="34" charset="-120"/>
              </a:rPr>
              <a:t>Prototype Development: Iterative Design and User-Centric Approach</a:t>
            </a:r>
            <a:endParaRPr lang="en-US" sz="4000" dirty="0"/>
          </a:p>
        </p:txBody>
      </p:sp>
      <p:sp>
        <p:nvSpPr>
          <p:cNvPr id="4" name="Shape 1"/>
          <p:cNvSpPr/>
          <p:nvPr/>
        </p:nvSpPr>
        <p:spPr>
          <a:xfrm>
            <a:off x="714494" y="5001339"/>
            <a:ext cx="13201412" cy="22860"/>
          </a:xfrm>
          <a:prstGeom prst="roundRect">
            <a:avLst>
              <a:gd name="adj" fmla="val 375070"/>
            </a:avLst>
          </a:prstGeom>
          <a:solidFill>
            <a:srgbClr val="B8BFDF"/>
          </a:solidFill>
          <a:ln/>
        </p:spPr>
      </p:sp>
      <p:sp>
        <p:nvSpPr>
          <p:cNvPr id="5" name="Shape 2"/>
          <p:cNvSpPr/>
          <p:nvPr/>
        </p:nvSpPr>
        <p:spPr>
          <a:xfrm>
            <a:off x="2835116" y="5001280"/>
            <a:ext cx="22860" cy="714494"/>
          </a:xfrm>
          <a:prstGeom prst="roundRect">
            <a:avLst>
              <a:gd name="adj" fmla="val 375070"/>
            </a:avLst>
          </a:prstGeom>
          <a:solidFill>
            <a:srgbClr val="B8BFDF"/>
          </a:solidFill>
          <a:ln/>
        </p:spPr>
      </p:sp>
      <p:sp>
        <p:nvSpPr>
          <p:cNvPr id="6" name="Shape 3"/>
          <p:cNvSpPr/>
          <p:nvPr/>
        </p:nvSpPr>
        <p:spPr>
          <a:xfrm>
            <a:off x="2616994" y="4771727"/>
            <a:ext cx="459224" cy="459224"/>
          </a:xfrm>
          <a:prstGeom prst="roundRect">
            <a:avLst>
              <a:gd name="adj" fmla="val 18671"/>
            </a:avLst>
          </a:prstGeom>
          <a:solidFill>
            <a:srgbClr val="D2D9F9"/>
          </a:solidFill>
          <a:ln w="7620">
            <a:solidFill>
              <a:srgbClr val="B8BFDF"/>
            </a:solidFill>
            <a:prstDash val="solid"/>
          </a:ln>
        </p:spPr>
      </p:sp>
      <p:sp>
        <p:nvSpPr>
          <p:cNvPr id="7" name="Text 4"/>
          <p:cNvSpPr/>
          <p:nvPr/>
        </p:nvSpPr>
        <p:spPr>
          <a:xfrm>
            <a:off x="2801303" y="4848165"/>
            <a:ext cx="90488" cy="306229"/>
          </a:xfrm>
          <a:prstGeom prst="rect">
            <a:avLst/>
          </a:prstGeom>
          <a:noFill/>
          <a:ln/>
        </p:spPr>
        <p:txBody>
          <a:bodyPr wrap="none" lIns="0" tIns="0" rIns="0" bIns="0" rtlCol="0" anchor="t"/>
          <a:lstStyle/>
          <a:p>
            <a:pPr marL="0" indent="0" algn="ctr">
              <a:lnSpc>
                <a:spcPts val="2400"/>
              </a:lnSpc>
              <a:buNone/>
            </a:pPr>
            <a:r>
              <a:rPr lang="en-US" sz="2400" dirty="0">
                <a:solidFill>
                  <a:srgbClr val="404155"/>
                </a:solidFill>
                <a:latin typeface="Corben" pitchFamily="34" charset="0"/>
                <a:ea typeface="Corben" pitchFamily="34" charset="-122"/>
                <a:cs typeface="Corben" pitchFamily="34" charset="-120"/>
              </a:rPr>
              <a:t>1</a:t>
            </a:r>
            <a:endParaRPr lang="en-US" sz="2400" dirty="0"/>
          </a:p>
        </p:txBody>
      </p:sp>
      <p:sp>
        <p:nvSpPr>
          <p:cNvPr id="8" name="Text 5"/>
          <p:cNvSpPr/>
          <p:nvPr/>
        </p:nvSpPr>
        <p:spPr>
          <a:xfrm>
            <a:off x="1570792" y="5919907"/>
            <a:ext cx="2551748" cy="318849"/>
          </a:xfrm>
          <a:prstGeom prst="rect">
            <a:avLst/>
          </a:prstGeom>
          <a:noFill/>
          <a:ln/>
        </p:spPr>
        <p:txBody>
          <a:bodyPr wrap="none" lIns="0" tIns="0" rIns="0" bIns="0" rtlCol="0" anchor="t"/>
          <a:lstStyle/>
          <a:p>
            <a:pPr marL="0" indent="0" algn="ctr">
              <a:lnSpc>
                <a:spcPts val="2500"/>
              </a:lnSpc>
              <a:buNone/>
            </a:pPr>
            <a:r>
              <a:rPr lang="en-US" sz="2000" dirty="0">
                <a:solidFill>
                  <a:srgbClr val="404155"/>
                </a:solidFill>
                <a:latin typeface="Corben" pitchFamily="34" charset="0"/>
                <a:ea typeface="Corben" pitchFamily="34" charset="-122"/>
                <a:cs typeface="Corben" pitchFamily="34" charset="-120"/>
              </a:rPr>
              <a:t>Initial Prototype</a:t>
            </a:r>
            <a:endParaRPr lang="en-US" sz="2000" dirty="0"/>
          </a:p>
        </p:txBody>
      </p:sp>
      <p:sp>
        <p:nvSpPr>
          <p:cNvPr id="9" name="Text 6"/>
          <p:cNvSpPr/>
          <p:nvPr/>
        </p:nvSpPr>
        <p:spPr>
          <a:xfrm>
            <a:off x="918567" y="6361152"/>
            <a:ext cx="3856196" cy="980123"/>
          </a:xfrm>
          <a:prstGeom prst="rect">
            <a:avLst/>
          </a:prstGeom>
          <a:noFill/>
          <a:ln/>
        </p:spPr>
        <p:txBody>
          <a:bodyPr wrap="square" lIns="0" tIns="0" rIns="0" bIns="0" rtlCol="0" anchor="t"/>
          <a:lstStyle/>
          <a:p>
            <a:pPr marL="0" indent="0" algn="ctr">
              <a:lnSpc>
                <a:spcPts val="2550"/>
              </a:lnSpc>
              <a:buNone/>
            </a:pPr>
            <a:r>
              <a:rPr lang="en-US" sz="1600" dirty="0">
                <a:solidFill>
                  <a:srgbClr val="404155"/>
                </a:solidFill>
                <a:latin typeface="Nobile" pitchFamily="34" charset="0"/>
                <a:ea typeface="Nobile" pitchFamily="34" charset="-122"/>
                <a:cs typeface="Nobile" pitchFamily="34" charset="-120"/>
              </a:rPr>
              <a:t>A basic prototype is developed to test core functionality and gather initial user feedback.</a:t>
            </a:r>
            <a:endParaRPr lang="en-US" sz="1600" dirty="0"/>
          </a:p>
        </p:txBody>
      </p:sp>
      <p:sp>
        <p:nvSpPr>
          <p:cNvPr id="10" name="Shape 7"/>
          <p:cNvSpPr/>
          <p:nvPr/>
        </p:nvSpPr>
        <p:spPr>
          <a:xfrm>
            <a:off x="7303532" y="5001280"/>
            <a:ext cx="22860" cy="714494"/>
          </a:xfrm>
          <a:prstGeom prst="roundRect">
            <a:avLst>
              <a:gd name="adj" fmla="val 375070"/>
            </a:avLst>
          </a:prstGeom>
          <a:solidFill>
            <a:srgbClr val="B8BFDF"/>
          </a:solidFill>
          <a:ln/>
        </p:spPr>
      </p:sp>
      <p:sp>
        <p:nvSpPr>
          <p:cNvPr id="11" name="Shape 8"/>
          <p:cNvSpPr/>
          <p:nvPr/>
        </p:nvSpPr>
        <p:spPr>
          <a:xfrm>
            <a:off x="7085409" y="4771727"/>
            <a:ext cx="459224" cy="459224"/>
          </a:xfrm>
          <a:prstGeom prst="roundRect">
            <a:avLst>
              <a:gd name="adj" fmla="val 18671"/>
            </a:avLst>
          </a:prstGeom>
          <a:solidFill>
            <a:srgbClr val="D2D9F9"/>
          </a:solidFill>
          <a:ln w="7620">
            <a:solidFill>
              <a:srgbClr val="B8BFDF"/>
            </a:solidFill>
            <a:prstDash val="solid"/>
          </a:ln>
        </p:spPr>
      </p:sp>
      <p:sp>
        <p:nvSpPr>
          <p:cNvPr id="12" name="Text 9"/>
          <p:cNvSpPr/>
          <p:nvPr/>
        </p:nvSpPr>
        <p:spPr>
          <a:xfrm>
            <a:off x="7235190" y="4848165"/>
            <a:ext cx="159663" cy="306229"/>
          </a:xfrm>
          <a:prstGeom prst="rect">
            <a:avLst/>
          </a:prstGeom>
          <a:noFill/>
          <a:ln/>
        </p:spPr>
        <p:txBody>
          <a:bodyPr wrap="none" lIns="0" tIns="0" rIns="0" bIns="0" rtlCol="0" anchor="t"/>
          <a:lstStyle/>
          <a:p>
            <a:pPr marL="0" indent="0" algn="ctr">
              <a:lnSpc>
                <a:spcPts val="2400"/>
              </a:lnSpc>
              <a:buNone/>
            </a:pPr>
            <a:r>
              <a:rPr lang="en-US" sz="2400" dirty="0">
                <a:solidFill>
                  <a:srgbClr val="404155"/>
                </a:solidFill>
                <a:latin typeface="Corben" pitchFamily="34" charset="0"/>
                <a:ea typeface="Corben" pitchFamily="34" charset="-122"/>
                <a:cs typeface="Corben" pitchFamily="34" charset="-120"/>
              </a:rPr>
              <a:t>2</a:t>
            </a:r>
            <a:endParaRPr lang="en-US" sz="2400" dirty="0"/>
          </a:p>
        </p:txBody>
      </p:sp>
      <p:sp>
        <p:nvSpPr>
          <p:cNvPr id="13" name="Text 10"/>
          <p:cNvSpPr/>
          <p:nvPr/>
        </p:nvSpPr>
        <p:spPr>
          <a:xfrm>
            <a:off x="6039207" y="5919907"/>
            <a:ext cx="2551748" cy="318849"/>
          </a:xfrm>
          <a:prstGeom prst="rect">
            <a:avLst/>
          </a:prstGeom>
          <a:noFill/>
          <a:ln/>
        </p:spPr>
        <p:txBody>
          <a:bodyPr wrap="none" lIns="0" tIns="0" rIns="0" bIns="0" rtlCol="0" anchor="t"/>
          <a:lstStyle/>
          <a:p>
            <a:pPr marL="0" indent="0" algn="ctr">
              <a:lnSpc>
                <a:spcPts val="2500"/>
              </a:lnSpc>
              <a:buNone/>
            </a:pPr>
            <a:r>
              <a:rPr lang="en-US" sz="2000" dirty="0">
                <a:solidFill>
                  <a:srgbClr val="404155"/>
                </a:solidFill>
                <a:latin typeface="Corben" pitchFamily="34" charset="0"/>
                <a:ea typeface="Corben" pitchFamily="34" charset="-122"/>
                <a:cs typeface="Corben" pitchFamily="34" charset="-120"/>
              </a:rPr>
              <a:t>User Testing</a:t>
            </a:r>
            <a:endParaRPr lang="en-US" sz="2000" dirty="0"/>
          </a:p>
        </p:txBody>
      </p:sp>
      <p:sp>
        <p:nvSpPr>
          <p:cNvPr id="14" name="Text 11"/>
          <p:cNvSpPr/>
          <p:nvPr/>
        </p:nvSpPr>
        <p:spPr>
          <a:xfrm>
            <a:off x="5386983" y="6361152"/>
            <a:ext cx="3856315" cy="980123"/>
          </a:xfrm>
          <a:prstGeom prst="rect">
            <a:avLst/>
          </a:prstGeom>
          <a:noFill/>
          <a:ln/>
        </p:spPr>
        <p:txBody>
          <a:bodyPr wrap="square" lIns="0" tIns="0" rIns="0" bIns="0" rtlCol="0" anchor="t"/>
          <a:lstStyle/>
          <a:p>
            <a:pPr marL="0" indent="0" algn="ctr">
              <a:lnSpc>
                <a:spcPts val="2550"/>
              </a:lnSpc>
              <a:buNone/>
            </a:pPr>
            <a:r>
              <a:rPr lang="en-US" sz="1600" dirty="0">
                <a:solidFill>
                  <a:srgbClr val="404155"/>
                </a:solidFill>
                <a:latin typeface="Nobile" pitchFamily="34" charset="0"/>
                <a:ea typeface="Nobile" pitchFamily="34" charset="-122"/>
                <a:cs typeface="Nobile" pitchFamily="34" charset="-120"/>
              </a:rPr>
              <a:t>User testing is conducted to gather feedback on the prototype's usability and identify areas for improvement.</a:t>
            </a:r>
            <a:endParaRPr lang="en-US" sz="1600" dirty="0"/>
          </a:p>
        </p:txBody>
      </p:sp>
      <p:sp>
        <p:nvSpPr>
          <p:cNvPr id="15" name="Shape 12"/>
          <p:cNvSpPr/>
          <p:nvPr/>
        </p:nvSpPr>
        <p:spPr>
          <a:xfrm>
            <a:off x="11772067" y="5001280"/>
            <a:ext cx="22860" cy="714494"/>
          </a:xfrm>
          <a:prstGeom prst="roundRect">
            <a:avLst>
              <a:gd name="adj" fmla="val 375070"/>
            </a:avLst>
          </a:prstGeom>
          <a:solidFill>
            <a:srgbClr val="B8BFDF"/>
          </a:solidFill>
          <a:ln/>
        </p:spPr>
      </p:sp>
      <p:sp>
        <p:nvSpPr>
          <p:cNvPr id="16" name="Shape 13"/>
          <p:cNvSpPr/>
          <p:nvPr/>
        </p:nvSpPr>
        <p:spPr>
          <a:xfrm>
            <a:off x="11553944" y="4771727"/>
            <a:ext cx="459224" cy="459224"/>
          </a:xfrm>
          <a:prstGeom prst="roundRect">
            <a:avLst>
              <a:gd name="adj" fmla="val 18671"/>
            </a:avLst>
          </a:prstGeom>
          <a:solidFill>
            <a:srgbClr val="D2D9F9"/>
          </a:solidFill>
          <a:ln w="7620">
            <a:solidFill>
              <a:srgbClr val="B8BFDF"/>
            </a:solidFill>
            <a:prstDash val="solid"/>
          </a:ln>
        </p:spPr>
      </p:sp>
      <p:sp>
        <p:nvSpPr>
          <p:cNvPr id="17" name="Text 14"/>
          <p:cNvSpPr/>
          <p:nvPr/>
        </p:nvSpPr>
        <p:spPr>
          <a:xfrm>
            <a:off x="11697533" y="4848165"/>
            <a:ext cx="171926" cy="306229"/>
          </a:xfrm>
          <a:prstGeom prst="rect">
            <a:avLst/>
          </a:prstGeom>
          <a:noFill/>
          <a:ln/>
        </p:spPr>
        <p:txBody>
          <a:bodyPr wrap="none" lIns="0" tIns="0" rIns="0" bIns="0" rtlCol="0" anchor="t"/>
          <a:lstStyle/>
          <a:p>
            <a:pPr marL="0" indent="0" algn="ctr">
              <a:lnSpc>
                <a:spcPts val="2400"/>
              </a:lnSpc>
              <a:buNone/>
            </a:pPr>
            <a:r>
              <a:rPr lang="en-US" sz="2400" dirty="0">
                <a:solidFill>
                  <a:srgbClr val="404155"/>
                </a:solidFill>
                <a:latin typeface="Corben" pitchFamily="34" charset="0"/>
                <a:ea typeface="Corben" pitchFamily="34" charset="-122"/>
                <a:cs typeface="Corben" pitchFamily="34" charset="-120"/>
              </a:rPr>
              <a:t>3</a:t>
            </a:r>
            <a:endParaRPr lang="en-US" sz="2400" dirty="0"/>
          </a:p>
        </p:txBody>
      </p:sp>
      <p:sp>
        <p:nvSpPr>
          <p:cNvPr id="18" name="Text 15"/>
          <p:cNvSpPr/>
          <p:nvPr/>
        </p:nvSpPr>
        <p:spPr>
          <a:xfrm>
            <a:off x="10507742" y="5919907"/>
            <a:ext cx="2551748" cy="318849"/>
          </a:xfrm>
          <a:prstGeom prst="rect">
            <a:avLst/>
          </a:prstGeom>
          <a:noFill/>
          <a:ln/>
        </p:spPr>
        <p:txBody>
          <a:bodyPr wrap="none" lIns="0" tIns="0" rIns="0" bIns="0" rtlCol="0" anchor="t"/>
          <a:lstStyle/>
          <a:p>
            <a:pPr marL="0" indent="0" algn="ctr">
              <a:lnSpc>
                <a:spcPts val="2500"/>
              </a:lnSpc>
              <a:buNone/>
            </a:pPr>
            <a:r>
              <a:rPr lang="en-US" sz="2000" dirty="0">
                <a:solidFill>
                  <a:srgbClr val="404155"/>
                </a:solidFill>
                <a:latin typeface="Corben" pitchFamily="34" charset="0"/>
                <a:ea typeface="Corben" pitchFamily="34" charset="-122"/>
                <a:cs typeface="Corben" pitchFamily="34" charset="-120"/>
              </a:rPr>
              <a:t>Iterative Refinement</a:t>
            </a:r>
            <a:endParaRPr lang="en-US" sz="2000" dirty="0"/>
          </a:p>
        </p:txBody>
      </p:sp>
      <p:sp>
        <p:nvSpPr>
          <p:cNvPr id="19" name="Text 16"/>
          <p:cNvSpPr/>
          <p:nvPr/>
        </p:nvSpPr>
        <p:spPr>
          <a:xfrm>
            <a:off x="9855518" y="6361152"/>
            <a:ext cx="3856315" cy="1306830"/>
          </a:xfrm>
          <a:prstGeom prst="rect">
            <a:avLst/>
          </a:prstGeom>
          <a:noFill/>
          <a:ln/>
        </p:spPr>
        <p:txBody>
          <a:bodyPr wrap="square" lIns="0" tIns="0" rIns="0" bIns="0" rtlCol="0" anchor="t"/>
          <a:lstStyle/>
          <a:p>
            <a:pPr marL="0" indent="0" algn="ctr">
              <a:lnSpc>
                <a:spcPts val="2550"/>
              </a:lnSpc>
              <a:buNone/>
            </a:pPr>
            <a:r>
              <a:rPr lang="en-US" sz="1600" dirty="0">
                <a:solidFill>
                  <a:srgbClr val="404155"/>
                </a:solidFill>
                <a:latin typeface="Nobile" pitchFamily="34" charset="0"/>
                <a:ea typeface="Nobile" pitchFamily="34" charset="-122"/>
                <a:cs typeface="Nobile" pitchFamily="34" charset="-120"/>
              </a:rPr>
              <a:t>The prototype is iteratively refined based on user feedback, leading to a more user-friendly and effective design.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16875" y="1044297"/>
            <a:ext cx="7710249" cy="1280160"/>
          </a:xfrm>
          <a:prstGeom prst="rect">
            <a:avLst/>
          </a:prstGeom>
          <a:noFill/>
          <a:ln/>
        </p:spPr>
        <p:txBody>
          <a:bodyPr wrap="square" lIns="0" tIns="0" rIns="0" bIns="0" rtlCol="0" anchor="t"/>
          <a:lstStyle/>
          <a:p>
            <a:pPr marL="0" indent="0">
              <a:lnSpc>
                <a:spcPts val="5000"/>
              </a:lnSpc>
              <a:buNone/>
            </a:pPr>
            <a:r>
              <a:rPr lang="en-US" sz="4000" dirty="0">
                <a:solidFill>
                  <a:srgbClr val="1B1B27"/>
                </a:solidFill>
                <a:latin typeface="Corben" pitchFamily="34" charset="0"/>
                <a:ea typeface="Corben" pitchFamily="34" charset="-122"/>
                <a:cs typeface="Corben" pitchFamily="34" charset="-120"/>
              </a:rPr>
              <a:t>Scenario Building: Crafting Seamless Customer Journeys</a:t>
            </a:r>
            <a:endParaRPr lang="en-US" sz="4000" dirty="0"/>
          </a:p>
        </p:txBody>
      </p:sp>
      <p:sp>
        <p:nvSpPr>
          <p:cNvPr id="4" name="Shape 1"/>
          <p:cNvSpPr/>
          <p:nvPr/>
        </p:nvSpPr>
        <p:spPr>
          <a:xfrm>
            <a:off x="716875" y="2631638"/>
            <a:ext cx="3752731" cy="2825829"/>
          </a:xfrm>
          <a:prstGeom prst="roundRect">
            <a:avLst>
              <a:gd name="adj" fmla="val 3044"/>
            </a:avLst>
          </a:prstGeom>
          <a:solidFill>
            <a:srgbClr val="D2D9F9"/>
          </a:solidFill>
          <a:ln w="7620">
            <a:solidFill>
              <a:srgbClr val="B8BFDF"/>
            </a:solidFill>
            <a:prstDash val="solid"/>
          </a:ln>
        </p:spPr>
      </p:sp>
      <p:sp>
        <p:nvSpPr>
          <p:cNvPr id="5" name="Text 2"/>
          <p:cNvSpPr/>
          <p:nvPr/>
        </p:nvSpPr>
        <p:spPr>
          <a:xfrm>
            <a:off x="929283" y="2844046"/>
            <a:ext cx="3327916" cy="639842"/>
          </a:xfrm>
          <a:prstGeom prst="rect">
            <a:avLst/>
          </a:prstGeom>
          <a:noFill/>
          <a:ln/>
        </p:spPr>
        <p:txBody>
          <a:bodyPr wrap="square" lIns="0" tIns="0" rIns="0" bIns="0" rtlCol="0" anchor="t"/>
          <a:lstStyle/>
          <a:p>
            <a:pPr marL="0" indent="0">
              <a:lnSpc>
                <a:spcPts val="2500"/>
              </a:lnSpc>
              <a:buNone/>
            </a:pPr>
            <a:r>
              <a:rPr lang="en-US" sz="2000" dirty="0">
                <a:solidFill>
                  <a:srgbClr val="404155"/>
                </a:solidFill>
                <a:latin typeface="Corben" pitchFamily="34" charset="0"/>
                <a:ea typeface="Corben" pitchFamily="34" charset="-122"/>
                <a:cs typeface="Corben" pitchFamily="34" charset="-120"/>
              </a:rPr>
              <a:t>Scenario 1: New User Discovery</a:t>
            </a:r>
            <a:endParaRPr lang="en-US" sz="2000" dirty="0"/>
          </a:p>
        </p:txBody>
      </p:sp>
      <p:sp>
        <p:nvSpPr>
          <p:cNvPr id="6" name="Text 3"/>
          <p:cNvSpPr/>
          <p:nvPr/>
        </p:nvSpPr>
        <p:spPr>
          <a:xfrm>
            <a:off x="929283" y="3606760"/>
            <a:ext cx="3327916" cy="1310640"/>
          </a:xfrm>
          <a:prstGeom prst="rect">
            <a:avLst/>
          </a:prstGeom>
          <a:noFill/>
          <a:ln/>
        </p:spPr>
        <p:txBody>
          <a:bodyPr wrap="square" lIns="0" tIns="0" rIns="0" bIns="0" rtlCol="0" anchor="t"/>
          <a:lstStyle/>
          <a:p>
            <a:pPr marL="0" indent="0">
              <a:lnSpc>
                <a:spcPts val="2550"/>
              </a:lnSpc>
              <a:buNone/>
            </a:pPr>
            <a:r>
              <a:rPr lang="en-US" sz="1600" dirty="0">
                <a:solidFill>
                  <a:srgbClr val="404155"/>
                </a:solidFill>
                <a:latin typeface="Nobile" pitchFamily="34" charset="0"/>
                <a:ea typeface="Nobile" pitchFamily="34" charset="-122"/>
                <a:cs typeface="Nobile" pitchFamily="34" charset="-120"/>
              </a:rPr>
              <a:t>A new user discovers EcomEra through social media and explores product categories, adding items to their cart.</a:t>
            </a:r>
            <a:endParaRPr lang="en-US" sz="1600" dirty="0"/>
          </a:p>
        </p:txBody>
      </p:sp>
      <p:sp>
        <p:nvSpPr>
          <p:cNvPr id="7" name="Shape 4"/>
          <p:cNvSpPr/>
          <p:nvPr/>
        </p:nvSpPr>
        <p:spPr>
          <a:xfrm>
            <a:off x="4674394" y="2631638"/>
            <a:ext cx="3752731" cy="2825829"/>
          </a:xfrm>
          <a:prstGeom prst="roundRect">
            <a:avLst>
              <a:gd name="adj" fmla="val 3044"/>
            </a:avLst>
          </a:prstGeom>
          <a:solidFill>
            <a:srgbClr val="D2D9F9"/>
          </a:solidFill>
          <a:ln w="7620">
            <a:solidFill>
              <a:srgbClr val="B8BFDF"/>
            </a:solidFill>
            <a:prstDash val="solid"/>
          </a:ln>
        </p:spPr>
      </p:sp>
      <p:sp>
        <p:nvSpPr>
          <p:cNvPr id="8" name="Text 5"/>
          <p:cNvSpPr/>
          <p:nvPr/>
        </p:nvSpPr>
        <p:spPr>
          <a:xfrm>
            <a:off x="4886801" y="2844046"/>
            <a:ext cx="3327916" cy="639842"/>
          </a:xfrm>
          <a:prstGeom prst="rect">
            <a:avLst/>
          </a:prstGeom>
          <a:noFill/>
          <a:ln/>
        </p:spPr>
        <p:txBody>
          <a:bodyPr wrap="square" lIns="0" tIns="0" rIns="0" bIns="0" rtlCol="0" anchor="t"/>
          <a:lstStyle/>
          <a:p>
            <a:pPr marL="0" indent="0">
              <a:lnSpc>
                <a:spcPts val="2500"/>
              </a:lnSpc>
              <a:buNone/>
            </a:pPr>
            <a:r>
              <a:rPr lang="en-US" sz="2000" dirty="0">
                <a:solidFill>
                  <a:srgbClr val="404155"/>
                </a:solidFill>
                <a:latin typeface="Corben" pitchFamily="34" charset="0"/>
                <a:ea typeface="Corben" pitchFamily="34" charset="-122"/>
                <a:cs typeface="Corben" pitchFamily="34" charset="-120"/>
              </a:rPr>
              <a:t>Scenario 2: Returning Customer Purchase</a:t>
            </a:r>
            <a:endParaRPr lang="en-US" sz="2000" dirty="0"/>
          </a:p>
        </p:txBody>
      </p:sp>
      <p:sp>
        <p:nvSpPr>
          <p:cNvPr id="9" name="Text 6"/>
          <p:cNvSpPr/>
          <p:nvPr/>
        </p:nvSpPr>
        <p:spPr>
          <a:xfrm>
            <a:off x="4886801" y="3606760"/>
            <a:ext cx="3327916" cy="1638300"/>
          </a:xfrm>
          <a:prstGeom prst="rect">
            <a:avLst/>
          </a:prstGeom>
          <a:noFill/>
          <a:ln/>
        </p:spPr>
        <p:txBody>
          <a:bodyPr wrap="square" lIns="0" tIns="0" rIns="0" bIns="0" rtlCol="0" anchor="t"/>
          <a:lstStyle/>
          <a:p>
            <a:pPr marL="0" indent="0">
              <a:lnSpc>
                <a:spcPts val="2550"/>
              </a:lnSpc>
              <a:buNone/>
            </a:pPr>
            <a:r>
              <a:rPr lang="en-US" sz="1600" dirty="0">
                <a:solidFill>
                  <a:srgbClr val="404155"/>
                </a:solidFill>
                <a:latin typeface="Nobile" pitchFamily="34" charset="0"/>
                <a:ea typeface="Nobile" pitchFamily="34" charset="-122"/>
                <a:cs typeface="Nobile" pitchFamily="34" charset="-120"/>
              </a:rPr>
              <a:t>A returning customer logs in, receives personalized recommendations, and purchases a product using their saved payment information.</a:t>
            </a:r>
            <a:endParaRPr lang="en-US" sz="1600" dirty="0"/>
          </a:p>
        </p:txBody>
      </p:sp>
      <p:sp>
        <p:nvSpPr>
          <p:cNvPr id="10" name="Shape 7"/>
          <p:cNvSpPr/>
          <p:nvPr/>
        </p:nvSpPr>
        <p:spPr>
          <a:xfrm>
            <a:off x="716875" y="5662255"/>
            <a:ext cx="7710249" cy="1522928"/>
          </a:xfrm>
          <a:prstGeom prst="roundRect">
            <a:avLst>
              <a:gd name="adj" fmla="val 5649"/>
            </a:avLst>
          </a:prstGeom>
          <a:solidFill>
            <a:srgbClr val="D2D9F9"/>
          </a:solidFill>
          <a:ln w="7620">
            <a:solidFill>
              <a:srgbClr val="B8BFDF"/>
            </a:solidFill>
            <a:prstDash val="solid"/>
          </a:ln>
        </p:spPr>
      </p:sp>
      <p:sp>
        <p:nvSpPr>
          <p:cNvPr id="11" name="Text 8"/>
          <p:cNvSpPr/>
          <p:nvPr/>
        </p:nvSpPr>
        <p:spPr>
          <a:xfrm>
            <a:off x="929283" y="5874663"/>
            <a:ext cx="4920496" cy="319921"/>
          </a:xfrm>
          <a:prstGeom prst="rect">
            <a:avLst/>
          </a:prstGeom>
          <a:noFill/>
          <a:ln/>
        </p:spPr>
        <p:txBody>
          <a:bodyPr wrap="none" lIns="0" tIns="0" rIns="0" bIns="0" rtlCol="0" anchor="t"/>
          <a:lstStyle/>
          <a:p>
            <a:pPr marL="0" indent="0">
              <a:lnSpc>
                <a:spcPts val="2500"/>
              </a:lnSpc>
              <a:buNone/>
            </a:pPr>
            <a:r>
              <a:rPr lang="en-US" sz="2000" dirty="0">
                <a:solidFill>
                  <a:srgbClr val="404155"/>
                </a:solidFill>
                <a:latin typeface="Corben" pitchFamily="34" charset="0"/>
                <a:ea typeface="Corben" pitchFamily="34" charset="-122"/>
                <a:cs typeface="Corben" pitchFamily="34" charset="-120"/>
              </a:rPr>
              <a:t>Scenario 3: Customer Support Interaction</a:t>
            </a:r>
            <a:endParaRPr lang="en-US" sz="2000" dirty="0"/>
          </a:p>
        </p:txBody>
      </p:sp>
      <p:sp>
        <p:nvSpPr>
          <p:cNvPr id="12" name="Text 9"/>
          <p:cNvSpPr/>
          <p:nvPr/>
        </p:nvSpPr>
        <p:spPr>
          <a:xfrm>
            <a:off x="929283" y="6317456"/>
            <a:ext cx="7285434" cy="655320"/>
          </a:xfrm>
          <a:prstGeom prst="rect">
            <a:avLst/>
          </a:prstGeom>
          <a:noFill/>
          <a:ln/>
        </p:spPr>
        <p:txBody>
          <a:bodyPr wrap="square" lIns="0" tIns="0" rIns="0" bIns="0" rtlCol="0" anchor="t"/>
          <a:lstStyle/>
          <a:p>
            <a:pPr marL="0" indent="0">
              <a:lnSpc>
                <a:spcPts val="2550"/>
              </a:lnSpc>
              <a:buNone/>
            </a:pPr>
            <a:r>
              <a:rPr lang="en-US" sz="1600" dirty="0">
                <a:solidFill>
                  <a:srgbClr val="404155"/>
                </a:solidFill>
                <a:latin typeface="Nobile" pitchFamily="34" charset="0"/>
                <a:ea typeface="Nobile" pitchFamily="34" charset="-122"/>
                <a:cs typeface="Nobile" pitchFamily="34" charset="-120"/>
              </a:rPr>
              <a:t>A customer contacts customer support for assistance with an order, receiving quick and efficient resolution through live chat.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92956"/>
            <a:ext cx="13042821" cy="1417558"/>
          </a:xfrm>
          <a:prstGeom prst="rect">
            <a:avLst/>
          </a:prstGeom>
          <a:noFill/>
          <a:ln/>
        </p:spPr>
        <p:txBody>
          <a:bodyPr wrap="square" lIns="0" tIns="0" rIns="0" bIns="0" rtlCol="0" anchor="t"/>
          <a:lstStyle/>
          <a:p>
            <a:pPr marL="0" indent="0">
              <a:lnSpc>
                <a:spcPts val="5550"/>
              </a:lnSpc>
              <a:buNone/>
            </a:pPr>
            <a:r>
              <a:rPr lang="en-US" sz="4450" dirty="0">
                <a:solidFill>
                  <a:srgbClr val="1B1B27"/>
                </a:solidFill>
                <a:latin typeface="Corben" pitchFamily="34" charset="0"/>
                <a:ea typeface="Corben" pitchFamily="34" charset="-122"/>
                <a:cs typeface="Corben" pitchFamily="34" charset="-120"/>
              </a:rPr>
              <a:t>Interface Design: Intuitive and Visually Appealing Experiences</a:t>
            </a:r>
            <a:endParaRPr lang="en-US" sz="4450" dirty="0"/>
          </a:p>
        </p:txBody>
      </p:sp>
      <p:pic>
        <p:nvPicPr>
          <p:cNvPr id="3" name="Image 0" descr="preencoded.png"/>
          <p:cNvPicPr>
            <a:picLocks noChangeAspect="1"/>
          </p:cNvPicPr>
          <p:nvPr/>
        </p:nvPicPr>
        <p:blipFill>
          <a:blip r:embed="rId3"/>
          <a:stretch>
            <a:fillRect/>
          </a:stretch>
        </p:blipFill>
        <p:spPr>
          <a:xfrm>
            <a:off x="793790" y="2664143"/>
            <a:ext cx="4120753" cy="2546747"/>
          </a:xfrm>
          <a:prstGeom prst="rect">
            <a:avLst/>
          </a:prstGeom>
        </p:spPr>
      </p:pic>
      <p:sp>
        <p:nvSpPr>
          <p:cNvPr id="4" name="Text 1"/>
          <p:cNvSpPr/>
          <p:nvPr/>
        </p:nvSpPr>
        <p:spPr>
          <a:xfrm>
            <a:off x="793790" y="549437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Product Detail Page</a:t>
            </a:r>
            <a:endParaRPr lang="en-US" sz="2200" dirty="0"/>
          </a:p>
        </p:txBody>
      </p:sp>
      <p:sp>
        <p:nvSpPr>
          <p:cNvPr id="5" name="Text 2"/>
          <p:cNvSpPr/>
          <p:nvPr/>
        </p:nvSpPr>
        <p:spPr>
          <a:xfrm>
            <a:off x="793790" y="5984796"/>
            <a:ext cx="4120753" cy="1451610"/>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The product detail page should provide comprehensive information, including product description, images, reviews, and pricing.</a:t>
            </a:r>
            <a:endParaRPr lang="en-US" sz="1750" dirty="0"/>
          </a:p>
        </p:txBody>
      </p:sp>
      <p:pic>
        <p:nvPicPr>
          <p:cNvPr id="6" name="Image 1" descr="preencoded.png"/>
          <p:cNvPicPr>
            <a:picLocks noChangeAspect="1"/>
          </p:cNvPicPr>
          <p:nvPr/>
        </p:nvPicPr>
        <p:blipFill>
          <a:blip r:embed="rId4"/>
          <a:stretch>
            <a:fillRect/>
          </a:stretch>
        </p:blipFill>
        <p:spPr>
          <a:xfrm>
            <a:off x="5254704" y="2664143"/>
            <a:ext cx="4120872" cy="2546866"/>
          </a:xfrm>
          <a:prstGeom prst="rect">
            <a:avLst/>
          </a:prstGeom>
        </p:spPr>
      </p:pic>
      <p:sp>
        <p:nvSpPr>
          <p:cNvPr id="7" name="Text 3"/>
          <p:cNvSpPr/>
          <p:nvPr/>
        </p:nvSpPr>
        <p:spPr>
          <a:xfrm>
            <a:off x="5254704" y="549449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Homepage</a:t>
            </a:r>
            <a:endParaRPr lang="en-US" sz="2200" dirty="0"/>
          </a:p>
        </p:txBody>
      </p:sp>
      <p:sp>
        <p:nvSpPr>
          <p:cNvPr id="8" name="Text 4"/>
          <p:cNvSpPr/>
          <p:nvPr/>
        </p:nvSpPr>
        <p:spPr>
          <a:xfrm>
            <a:off x="5254704" y="5984915"/>
            <a:ext cx="4120872" cy="1451610"/>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The homepage should be engaging and informative, showcasing featured products, promotions, and personalized recommendations.</a:t>
            </a:r>
            <a:endParaRPr lang="en-US" sz="1750" dirty="0"/>
          </a:p>
        </p:txBody>
      </p:sp>
      <p:pic>
        <p:nvPicPr>
          <p:cNvPr id="9" name="Image 2" descr="preencoded.png"/>
          <p:cNvPicPr>
            <a:picLocks noChangeAspect="1"/>
          </p:cNvPicPr>
          <p:nvPr/>
        </p:nvPicPr>
        <p:blipFill>
          <a:blip r:embed="rId5"/>
          <a:stretch>
            <a:fillRect/>
          </a:stretch>
        </p:blipFill>
        <p:spPr>
          <a:xfrm>
            <a:off x="9715738" y="2664143"/>
            <a:ext cx="4120753" cy="2546747"/>
          </a:xfrm>
          <a:prstGeom prst="rect">
            <a:avLst/>
          </a:prstGeom>
        </p:spPr>
      </p:pic>
      <p:sp>
        <p:nvSpPr>
          <p:cNvPr id="10" name="Text 5"/>
          <p:cNvSpPr/>
          <p:nvPr/>
        </p:nvSpPr>
        <p:spPr>
          <a:xfrm>
            <a:off x="9715738" y="549437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Checkout Process</a:t>
            </a:r>
            <a:endParaRPr lang="en-US" sz="2200" dirty="0"/>
          </a:p>
        </p:txBody>
      </p:sp>
      <p:sp>
        <p:nvSpPr>
          <p:cNvPr id="11" name="Text 6"/>
          <p:cNvSpPr/>
          <p:nvPr/>
        </p:nvSpPr>
        <p:spPr>
          <a:xfrm>
            <a:off x="9715738" y="5984796"/>
            <a:ext cx="4120753" cy="1451610"/>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The checkout process should be straightforward and secure, allowing users to easily enter their shipping and payment information.</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01873" y="579358"/>
            <a:ext cx="7740253" cy="1879878"/>
          </a:xfrm>
          <a:prstGeom prst="rect">
            <a:avLst/>
          </a:prstGeom>
          <a:noFill/>
          <a:ln/>
        </p:spPr>
        <p:txBody>
          <a:bodyPr wrap="square" lIns="0" tIns="0" rIns="0" bIns="0" rtlCol="0" anchor="t"/>
          <a:lstStyle/>
          <a:p>
            <a:pPr marL="0" indent="0">
              <a:lnSpc>
                <a:spcPts val="4900"/>
              </a:lnSpc>
              <a:buNone/>
            </a:pPr>
            <a:r>
              <a:rPr lang="en-US" sz="3900" dirty="0">
                <a:solidFill>
                  <a:srgbClr val="1B1B27"/>
                </a:solidFill>
                <a:latin typeface="Corben" pitchFamily="34" charset="0"/>
                <a:ea typeface="Corben" pitchFamily="34" charset="-122"/>
                <a:cs typeface="Corben" pitchFamily="34" charset="-120"/>
              </a:rPr>
              <a:t>Contextual Inquiry: Understanding User Behaviors and Workflows</a:t>
            </a:r>
            <a:endParaRPr lang="en-US" sz="3900" dirty="0"/>
          </a:p>
        </p:txBody>
      </p:sp>
      <p:sp>
        <p:nvSpPr>
          <p:cNvPr id="4" name="Shape 1"/>
          <p:cNvSpPr/>
          <p:nvPr/>
        </p:nvSpPr>
        <p:spPr>
          <a:xfrm>
            <a:off x="701873" y="2759988"/>
            <a:ext cx="7740253" cy="4890135"/>
          </a:xfrm>
          <a:prstGeom prst="roundRect">
            <a:avLst>
              <a:gd name="adj" fmla="val 1723"/>
            </a:avLst>
          </a:prstGeom>
          <a:noFill/>
          <a:ln w="7620">
            <a:solidFill>
              <a:srgbClr val="000000">
                <a:alpha val="8000"/>
              </a:srgbClr>
            </a:solidFill>
            <a:prstDash val="solid"/>
          </a:ln>
        </p:spPr>
      </p:sp>
      <p:sp>
        <p:nvSpPr>
          <p:cNvPr id="5" name="Shape 2"/>
          <p:cNvSpPr/>
          <p:nvPr/>
        </p:nvSpPr>
        <p:spPr>
          <a:xfrm>
            <a:off x="709493" y="2767608"/>
            <a:ext cx="7725013" cy="576739"/>
          </a:xfrm>
          <a:prstGeom prst="rect">
            <a:avLst/>
          </a:prstGeom>
          <a:solidFill>
            <a:srgbClr val="FFFFFF">
              <a:alpha val="4000"/>
            </a:srgbClr>
          </a:solidFill>
          <a:ln/>
        </p:spPr>
      </p:sp>
      <p:sp>
        <p:nvSpPr>
          <p:cNvPr id="6" name="Text 3"/>
          <p:cNvSpPr/>
          <p:nvPr/>
        </p:nvSpPr>
        <p:spPr>
          <a:xfrm>
            <a:off x="909995" y="2895481"/>
            <a:ext cx="3457694" cy="320992"/>
          </a:xfrm>
          <a:prstGeom prst="rect">
            <a:avLst/>
          </a:prstGeom>
          <a:noFill/>
          <a:ln/>
        </p:spPr>
        <p:txBody>
          <a:bodyPr wrap="none" lIns="0" tIns="0" rIns="0" bIns="0" rtlCol="0" anchor="t"/>
          <a:lstStyle/>
          <a:p>
            <a:pPr marL="0" indent="0">
              <a:lnSpc>
                <a:spcPts val="2500"/>
              </a:lnSpc>
              <a:buNone/>
            </a:pPr>
            <a:r>
              <a:rPr lang="en-US" sz="1550" dirty="0">
                <a:solidFill>
                  <a:srgbClr val="404155"/>
                </a:solidFill>
                <a:latin typeface="Nobile" pitchFamily="34" charset="0"/>
                <a:ea typeface="Nobile" pitchFamily="34" charset="-122"/>
                <a:cs typeface="Nobile" pitchFamily="34" charset="-120"/>
              </a:rPr>
              <a:t>Method</a:t>
            </a:r>
            <a:endParaRPr lang="en-US" sz="1550" dirty="0"/>
          </a:p>
        </p:txBody>
      </p:sp>
      <p:sp>
        <p:nvSpPr>
          <p:cNvPr id="7" name="Text 4"/>
          <p:cNvSpPr/>
          <p:nvPr/>
        </p:nvSpPr>
        <p:spPr>
          <a:xfrm>
            <a:off x="4776311" y="2895481"/>
            <a:ext cx="3457694" cy="320992"/>
          </a:xfrm>
          <a:prstGeom prst="rect">
            <a:avLst/>
          </a:prstGeom>
          <a:noFill/>
          <a:ln/>
        </p:spPr>
        <p:txBody>
          <a:bodyPr wrap="none" lIns="0" tIns="0" rIns="0" bIns="0" rtlCol="0" anchor="t"/>
          <a:lstStyle/>
          <a:p>
            <a:pPr marL="0" indent="0">
              <a:lnSpc>
                <a:spcPts val="2500"/>
              </a:lnSpc>
              <a:buNone/>
            </a:pPr>
            <a:r>
              <a:rPr lang="en-US" sz="1550" dirty="0">
                <a:solidFill>
                  <a:srgbClr val="404155"/>
                </a:solidFill>
                <a:latin typeface="Nobile" pitchFamily="34" charset="0"/>
                <a:ea typeface="Nobile" pitchFamily="34" charset="-122"/>
                <a:cs typeface="Nobile" pitchFamily="34" charset="-120"/>
              </a:rPr>
              <a:t>Description</a:t>
            </a:r>
            <a:endParaRPr lang="en-US" sz="1550" dirty="0"/>
          </a:p>
        </p:txBody>
      </p:sp>
      <p:sp>
        <p:nvSpPr>
          <p:cNvPr id="8" name="Shape 5"/>
          <p:cNvSpPr/>
          <p:nvPr/>
        </p:nvSpPr>
        <p:spPr>
          <a:xfrm>
            <a:off x="709493" y="3344347"/>
            <a:ext cx="7725013" cy="1539716"/>
          </a:xfrm>
          <a:prstGeom prst="rect">
            <a:avLst/>
          </a:prstGeom>
          <a:solidFill>
            <a:srgbClr val="000000">
              <a:alpha val="4000"/>
            </a:srgbClr>
          </a:solidFill>
          <a:ln/>
        </p:spPr>
      </p:sp>
      <p:sp>
        <p:nvSpPr>
          <p:cNvPr id="9" name="Text 6"/>
          <p:cNvSpPr/>
          <p:nvPr/>
        </p:nvSpPr>
        <p:spPr>
          <a:xfrm>
            <a:off x="909995" y="3472220"/>
            <a:ext cx="3457694" cy="320992"/>
          </a:xfrm>
          <a:prstGeom prst="rect">
            <a:avLst/>
          </a:prstGeom>
          <a:noFill/>
          <a:ln/>
        </p:spPr>
        <p:txBody>
          <a:bodyPr wrap="none" lIns="0" tIns="0" rIns="0" bIns="0" rtlCol="0" anchor="t"/>
          <a:lstStyle/>
          <a:p>
            <a:pPr marL="0" indent="0">
              <a:lnSpc>
                <a:spcPts val="2500"/>
              </a:lnSpc>
              <a:buNone/>
            </a:pPr>
            <a:r>
              <a:rPr lang="en-US" sz="1550" dirty="0">
                <a:solidFill>
                  <a:srgbClr val="404155"/>
                </a:solidFill>
                <a:latin typeface="Nobile" pitchFamily="34" charset="0"/>
                <a:ea typeface="Nobile" pitchFamily="34" charset="-122"/>
                <a:cs typeface="Nobile" pitchFamily="34" charset="-120"/>
              </a:rPr>
              <a:t>Observation</a:t>
            </a:r>
            <a:endParaRPr lang="en-US" sz="1550" dirty="0"/>
          </a:p>
        </p:txBody>
      </p:sp>
      <p:sp>
        <p:nvSpPr>
          <p:cNvPr id="10" name="Text 7"/>
          <p:cNvSpPr/>
          <p:nvPr/>
        </p:nvSpPr>
        <p:spPr>
          <a:xfrm>
            <a:off x="4776311" y="3472220"/>
            <a:ext cx="3457694" cy="1283970"/>
          </a:xfrm>
          <a:prstGeom prst="rect">
            <a:avLst/>
          </a:prstGeom>
          <a:noFill/>
          <a:ln/>
        </p:spPr>
        <p:txBody>
          <a:bodyPr wrap="square" lIns="0" tIns="0" rIns="0" bIns="0" rtlCol="0" anchor="t"/>
          <a:lstStyle/>
          <a:p>
            <a:pPr marL="0" indent="0">
              <a:lnSpc>
                <a:spcPts val="2500"/>
              </a:lnSpc>
              <a:buNone/>
            </a:pPr>
            <a:r>
              <a:rPr lang="en-US" sz="1550" dirty="0">
                <a:solidFill>
                  <a:srgbClr val="404155"/>
                </a:solidFill>
                <a:latin typeface="Nobile" pitchFamily="34" charset="0"/>
                <a:ea typeface="Nobile" pitchFamily="34" charset="-122"/>
                <a:cs typeface="Nobile" pitchFamily="34" charset="-120"/>
              </a:rPr>
              <a:t>Observing users as they navigate and interact with the platform, noting their behaviors and challenges.</a:t>
            </a:r>
            <a:endParaRPr lang="en-US" sz="1550" dirty="0"/>
          </a:p>
        </p:txBody>
      </p:sp>
      <p:sp>
        <p:nvSpPr>
          <p:cNvPr id="11" name="Shape 8"/>
          <p:cNvSpPr/>
          <p:nvPr/>
        </p:nvSpPr>
        <p:spPr>
          <a:xfrm>
            <a:off x="709493" y="4884063"/>
            <a:ext cx="7725013" cy="1218724"/>
          </a:xfrm>
          <a:prstGeom prst="rect">
            <a:avLst/>
          </a:prstGeom>
          <a:solidFill>
            <a:srgbClr val="FFFFFF">
              <a:alpha val="4000"/>
            </a:srgbClr>
          </a:solidFill>
          <a:ln/>
        </p:spPr>
      </p:sp>
      <p:sp>
        <p:nvSpPr>
          <p:cNvPr id="12" name="Text 9"/>
          <p:cNvSpPr/>
          <p:nvPr/>
        </p:nvSpPr>
        <p:spPr>
          <a:xfrm>
            <a:off x="909995" y="5011936"/>
            <a:ext cx="3457694" cy="320992"/>
          </a:xfrm>
          <a:prstGeom prst="rect">
            <a:avLst/>
          </a:prstGeom>
          <a:noFill/>
          <a:ln/>
        </p:spPr>
        <p:txBody>
          <a:bodyPr wrap="none" lIns="0" tIns="0" rIns="0" bIns="0" rtlCol="0" anchor="t"/>
          <a:lstStyle/>
          <a:p>
            <a:pPr marL="0" indent="0">
              <a:lnSpc>
                <a:spcPts val="2500"/>
              </a:lnSpc>
              <a:buNone/>
            </a:pPr>
            <a:r>
              <a:rPr lang="en-US" sz="1550" dirty="0">
                <a:solidFill>
                  <a:srgbClr val="404155"/>
                </a:solidFill>
                <a:latin typeface="Nobile" pitchFamily="34" charset="0"/>
                <a:ea typeface="Nobile" pitchFamily="34" charset="-122"/>
                <a:cs typeface="Nobile" pitchFamily="34" charset="-120"/>
              </a:rPr>
              <a:t>Interviews</a:t>
            </a:r>
            <a:endParaRPr lang="en-US" sz="1550" dirty="0"/>
          </a:p>
        </p:txBody>
      </p:sp>
      <p:sp>
        <p:nvSpPr>
          <p:cNvPr id="13" name="Text 10"/>
          <p:cNvSpPr/>
          <p:nvPr/>
        </p:nvSpPr>
        <p:spPr>
          <a:xfrm>
            <a:off x="4776311" y="5011936"/>
            <a:ext cx="3457694" cy="962978"/>
          </a:xfrm>
          <a:prstGeom prst="rect">
            <a:avLst/>
          </a:prstGeom>
          <a:noFill/>
          <a:ln/>
        </p:spPr>
        <p:txBody>
          <a:bodyPr wrap="square" lIns="0" tIns="0" rIns="0" bIns="0" rtlCol="0" anchor="t"/>
          <a:lstStyle/>
          <a:p>
            <a:pPr marL="0" indent="0">
              <a:lnSpc>
                <a:spcPts val="2500"/>
              </a:lnSpc>
              <a:buNone/>
            </a:pPr>
            <a:r>
              <a:rPr lang="en-US" sz="1550" dirty="0">
                <a:solidFill>
                  <a:srgbClr val="404155"/>
                </a:solidFill>
                <a:latin typeface="Nobile" pitchFamily="34" charset="0"/>
                <a:ea typeface="Nobile" pitchFamily="34" charset="-122"/>
                <a:cs typeface="Nobile" pitchFamily="34" charset="-120"/>
              </a:rPr>
              <a:t>Conducting in-depth interviews with users to gather feedback on their experiences and expectations.</a:t>
            </a:r>
            <a:endParaRPr lang="en-US" sz="1550" dirty="0"/>
          </a:p>
        </p:txBody>
      </p:sp>
      <p:sp>
        <p:nvSpPr>
          <p:cNvPr id="14" name="Shape 11"/>
          <p:cNvSpPr/>
          <p:nvPr/>
        </p:nvSpPr>
        <p:spPr>
          <a:xfrm>
            <a:off x="709493" y="6102787"/>
            <a:ext cx="7725013" cy="1539716"/>
          </a:xfrm>
          <a:prstGeom prst="rect">
            <a:avLst/>
          </a:prstGeom>
          <a:solidFill>
            <a:srgbClr val="000000">
              <a:alpha val="4000"/>
            </a:srgbClr>
          </a:solidFill>
          <a:ln/>
        </p:spPr>
      </p:sp>
      <p:sp>
        <p:nvSpPr>
          <p:cNvPr id="15" name="Text 12"/>
          <p:cNvSpPr/>
          <p:nvPr/>
        </p:nvSpPr>
        <p:spPr>
          <a:xfrm>
            <a:off x="909995" y="6230660"/>
            <a:ext cx="3457694" cy="320992"/>
          </a:xfrm>
          <a:prstGeom prst="rect">
            <a:avLst/>
          </a:prstGeom>
          <a:noFill/>
          <a:ln/>
        </p:spPr>
        <p:txBody>
          <a:bodyPr wrap="none" lIns="0" tIns="0" rIns="0" bIns="0" rtlCol="0" anchor="t"/>
          <a:lstStyle/>
          <a:p>
            <a:pPr marL="0" indent="0">
              <a:lnSpc>
                <a:spcPts val="2500"/>
              </a:lnSpc>
              <a:buNone/>
            </a:pPr>
            <a:r>
              <a:rPr lang="en-US" sz="1550" dirty="0">
                <a:solidFill>
                  <a:srgbClr val="404155"/>
                </a:solidFill>
                <a:latin typeface="Nobile" pitchFamily="34" charset="0"/>
                <a:ea typeface="Nobile" pitchFamily="34" charset="-122"/>
                <a:cs typeface="Nobile" pitchFamily="34" charset="-120"/>
              </a:rPr>
              <a:t>Surveys</a:t>
            </a:r>
            <a:endParaRPr lang="en-US" sz="1550" dirty="0"/>
          </a:p>
        </p:txBody>
      </p:sp>
      <p:sp>
        <p:nvSpPr>
          <p:cNvPr id="16" name="Text 13"/>
          <p:cNvSpPr/>
          <p:nvPr/>
        </p:nvSpPr>
        <p:spPr>
          <a:xfrm>
            <a:off x="4776311" y="6230660"/>
            <a:ext cx="3457694" cy="1283970"/>
          </a:xfrm>
          <a:prstGeom prst="rect">
            <a:avLst/>
          </a:prstGeom>
          <a:noFill/>
          <a:ln/>
        </p:spPr>
        <p:txBody>
          <a:bodyPr wrap="square" lIns="0" tIns="0" rIns="0" bIns="0" rtlCol="0" anchor="t"/>
          <a:lstStyle/>
          <a:p>
            <a:pPr marL="0" indent="0">
              <a:lnSpc>
                <a:spcPts val="2500"/>
              </a:lnSpc>
              <a:buNone/>
            </a:pPr>
            <a:r>
              <a:rPr lang="en-US" sz="1550" dirty="0">
                <a:solidFill>
                  <a:srgbClr val="404155"/>
                </a:solidFill>
                <a:latin typeface="Nobile" pitchFamily="34" charset="0"/>
                <a:ea typeface="Nobile" pitchFamily="34" charset="-122"/>
                <a:cs typeface="Nobile" pitchFamily="34" charset="-120"/>
              </a:rPr>
              <a:t>Distributing surveys to a larger sample of users to collect quantitative data on their preferences and satisfaction.</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2100"/>
          </a:xfrm>
          <a:prstGeom prst="rect">
            <a:avLst/>
          </a:prstGeom>
        </p:spPr>
      </p:pic>
      <p:sp>
        <p:nvSpPr>
          <p:cNvPr id="3" name="Text 0"/>
          <p:cNvSpPr/>
          <p:nvPr/>
        </p:nvSpPr>
        <p:spPr>
          <a:xfrm>
            <a:off x="628531" y="493871"/>
            <a:ext cx="7886938" cy="1122283"/>
          </a:xfrm>
          <a:prstGeom prst="rect">
            <a:avLst/>
          </a:prstGeom>
          <a:noFill/>
          <a:ln/>
        </p:spPr>
        <p:txBody>
          <a:bodyPr wrap="square" lIns="0" tIns="0" rIns="0" bIns="0" rtlCol="0" anchor="t"/>
          <a:lstStyle/>
          <a:p>
            <a:pPr marL="0" indent="0">
              <a:lnSpc>
                <a:spcPts val="4400"/>
              </a:lnSpc>
              <a:buNone/>
            </a:pPr>
            <a:r>
              <a:rPr lang="en-US" sz="3500" dirty="0">
                <a:solidFill>
                  <a:srgbClr val="1B1B27"/>
                </a:solidFill>
                <a:latin typeface="Corben" pitchFamily="34" charset="0"/>
                <a:ea typeface="Corben" pitchFamily="34" charset="-122"/>
                <a:cs typeface="Corben" pitchFamily="34" charset="-120"/>
              </a:rPr>
              <a:t>Work Redesign: Optimizing Business Processes for EcomEra</a:t>
            </a:r>
            <a:endParaRPr lang="en-US" sz="3500" dirty="0"/>
          </a:p>
        </p:txBody>
      </p:sp>
      <p:pic>
        <p:nvPicPr>
          <p:cNvPr id="4" name="Image 1" descr="preencoded.png"/>
          <p:cNvPicPr>
            <a:picLocks noChangeAspect="1"/>
          </p:cNvPicPr>
          <p:nvPr/>
        </p:nvPicPr>
        <p:blipFill>
          <a:blip r:embed="rId4"/>
          <a:stretch>
            <a:fillRect/>
          </a:stretch>
        </p:blipFill>
        <p:spPr>
          <a:xfrm>
            <a:off x="628531" y="1885474"/>
            <a:ext cx="448985" cy="448985"/>
          </a:xfrm>
          <a:prstGeom prst="rect">
            <a:avLst/>
          </a:prstGeom>
        </p:spPr>
      </p:pic>
      <p:sp>
        <p:nvSpPr>
          <p:cNvPr id="5" name="Text 1"/>
          <p:cNvSpPr/>
          <p:nvPr/>
        </p:nvSpPr>
        <p:spPr>
          <a:xfrm>
            <a:off x="628531" y="2514005"/>
            <a:ext cx="2245043" cy="280630"/>
          </a:xfrm>
          <a:prstGeom prst="rect">
            <a:avLst/>
          </a:prstGeom>
          <a:noFill/>
          <a:ln/>
        </p:spPr>
        <p:txBody>
          <a:bodyPr wrap="none" lIns="0" tIns="0" rIns="0" bIns="0" rtlCol="0" anchor="t"/>
          <a:lstStyle/>
          <a:p>
            <a:pPr marL="0" indent="0" algn="l">
              <a:lnSpc>
                <a:spcPts val="2200"/>
              </a:lnSpc>
              <a:buNone/>
            </a:pPr>
            <a:r>
              <a:rPr lang="en-US" sz="1750" dirty="0">
                <a:solidFill>
                  <a:srgbClr val="404155"/>
                </a:solidFill>
                <a:latin typeface="Corben" pitchFamily="34" charset="0"/>
                <a:ea typeface="Corben" pitchFamily="34" charset="-122"/>
                <a:cs typeface="Corben" pitchFamily="34" charset="-120"/>
              </a:rPr>
              <a:t>Automation</a:t>
            </a:r>
            <a:endParaRPr lang="en-US" sz="1750" dirty="0"/>
          </a:p>
        </p:txBody>
      </p:sp>
      <p:sp>
        <p:nvSpPr>
          <p:cNvPr id="6" name="Text 2"/>
          <p:cNvSpPr/>
          <p:nvPr/>
        </p:nvSpPr>
        <p:spPr>
          <a:xfrm>
            <a:off x="628531" y="2902387"/>
            <a:ext cx="7886938" cy="574834"/>
          </a:xfrm>
          <a:prstGeom prst="rect">
            <a:avLst/>
          </a:prstGeom>
          <a:noFill/>
          <a:ln/>
        </p:spPr>
        <p:txBody>
          <a:bodyPr wrap="square" lIns="0" tIns="0" rIns="0" bIns="0" rtlCol="0" anchor="t"/>
          <a:lstStyle/>
          <a:p>
            <a:pPr marL="0" indent="0" algn="l">
              <a:lnSpc>
                <a:spcPts val="2250"/>
              </a:lnSpc>
              <a:buNone/>
            </a:pPr>
            <a:r>
              <a:rPr lang="en-US" sz="1400" dirty="0">
                <a:solidFill>
                  <a:srgbClr val="404155"/>
                </a:solidFill>
                <a:latin typeface="Nobile" pitchFamily="34" charset="0"/>
                <a:ea typeface="Nobile" pitchFamily="34" charset="-122"/>
                <a:cs typeface="Nobile" pitchFamily="34" charset="-120"/>
              </a:rPr>
              <a:t>Automating repetitive tasks, such as order processing and inventory management, to improve efficiency and reduce errors.</a:t>
            </a:r>
            <a:endParaRPr lang="en-US" sz="1400" dirty="0"/>
          </a:p>
        </p:txBody>
      </p:sp>
      <p:pic>
        <p:nvPicPr>
          <p:cNvPr id="7" name="Image 2" descr="preencoded.png"/>
          <p:cNvPicPr>
            <a:picLocks noChangeAspect="1"/>
          </p:cNvPicPr>
          <p:nvPr/>
        </p:nvPicPr>
        <p:blipFill>
          <a:blip r:embed="rId5"/>
          <a:stretch>
            <a:fillRect/>
          </a:stretch>
        </p:blipFill>
        <p:spPr>
          <a:xfrm>
            <a:off x="628531" y="4015978"/>
            <a:ext cx="448985" cy="448985"/>
          </a:xfrm>
          <a:prstGeom prst="rect">
            <a:avLst/>
          </a:prstGeom>
        </p:spPr>
      </p:pic>
      <p:sp>
        <p:nvSpPr>
          <p:cNvPr id="8" name="Text 3"/>
          <p:cNvSpPr/>
          <p:nvPr/>
        </p:nvSpPr>
        <p:spPr>
          <a:xfrm>
            <a:off x="628531" y="4644509"/>
            <a:ext cx="2245043" cy="280630"/>
          </a:xfrm>
          <a:prstGeom prst="rect">
            <a:avLst/>
          </a:prstGeom>
          <a:noFill/>
          <a:ln/>
        </p:spPr>
        <p:txBody>
          <a:bodyPr wrap="none" lIns="0" tIns="0" rIns="0" bIns="0" rtlCol="0" anchor="t"/>
          <a:lstStyle/>
          <a:p>
            <a:pPr marL="0" indent="0" algn="l">
              <a:lnSpc>
                <a:spcPts val="2200"/>
              </a:lnSpc>
              <a:buNone/>
            </a:pPr>
            <a:r>
              <a:rPr lang="en-US" sz="1750" dirty="0">
                <a:solidFill>
                  <a:srgbClr val="404155"/>
                </a:solidFill>
                <a:latin typeface="Corben" pitchFamily="34" charset="0"/>
                <a:ea typeface="Corben" pitchFamily="34" charset="-122"/>
                <a:cs typeface="Corben" pitchFamily="34" charset="-120"/>
              </a:rPr>
              <a:t>Collaboration</a:t>
            </a:r>
            <a:endParaRPr lang="en-US" sz="1750" dirty="0"/>
          </a:p>
        </p:txBody>
      </p:sp>
      <p:sp>
        <p:nvSpPr>
          <p:cNvPr id="9" name="Text 4"/>
          <p:cNvSpPr/>
          <p:nvPr/>
        </p:nvSpPr>
        <p:spPr>
          <a:xfrm>
            <a:off x="628531" y="5032891"/>
            <a:ext cx="7886938" cy="574834"/>
          </a:xfrm>
          <a:prstGeom prst="rect">
            <a:avLst/>
          </a:prstGeom>
          <a:noFill/>
          <a:ln/>
        </p:spPr>
        <p:txBody>
          <a:bodyPr wrap="square" lIns="0" tIns="0" rIns="0" bIns="0" rtlCol="0" anchor="t"/>
          <a:lstStyle/>
          <a:p>
            <a:pPr marL="0" indent="0" algn="l">
              <a:lnSpc>
                <a:spcPts val="2250"/>
              </a:lnSpc>
              <a:buNone/>
            </a:pPr>
            <a:r>
              <a:rPr lang="en-US" sz="1400" dirty="0">
                <a:solidFill>
                  <a:srgbClr val="404155"/>
                </a:solidFill>
                <a:latin typeface="Nobile" pitchFamily="34" charset="0"/>
                <a:ea typeface="Nobile" pitchFamily="34" charset="-122"/>
                <a:cs typeface="Nobile" pitchFamily="34" charset="-120"/>
              </a:rPr>
              <a:t>Enhancing communication and collaboration between different departments to ensure smooth operations and customer satisfaction.</a:t>
            </a:r>
            <a:endParaRPr lang="en-US" sz="1400" dirty="0"/>
          </a:p>
        </p:txBody>
      </p:sp>
      <p:pic>
        <p:nvPicPr>
          <p:cNvPr id="10" name="Image 3" descr="preencoded.png"/>
          <p:cNvPicPr>
            <a:picLocks noChangeAspect="1"/>
          </p:cNvPicPr>
          <p:nvPr/>
        </p:nvPicPr>
        <p:blipFill>
          <a:blip r:embed="rId6"/>
          <a:stretch>
            <a:fillRect/>
          </a:stretch>
        </p:blipFill>
        <p:spPr>
          <a:xfrm>
            <a:off x="628531" y="6146483"/>
            <a:ext cx="448985" cy="448985"/>
          </a:xfrm>
          <a:prstGeom prst="rect">
            <a:avLst/>
          </a:prstGeom>
        </p:spPr>
      </p:pic>
      <p:sp>
        <p:nvSpPr>
          <p:cNvPr id="11" name="Text 5"/>
          <p:cNvSpPr/>
          <p:nvPr/>
        </p:nvSpPr>
        <p:spPr>
          <a:xfrm>
            <a:off x="628531" y="6775013"/>
            <a:ext cx="2245043" cy="280630"/>
          </a:xfrm>
          <a:prstGeom prst="rect">
            <a:avLst/>
          </a:prstGeom>
          <a:noFill/>
          <a:ln/>
        </p:spPr>
        <p:txBody>
          <a:bodyPr wrap="none" lIns="0" tIns="0" rIns="0" bIns="0" rtlCol="0" anchor="t"/>
          <a:lstStyle/>
          <a:p>
            <a:pPr marL="0" indent="0" algn="l">
              <a:lnSpc>
                <a:spcPts val="2200"/>
              </a:lnSpc>
              <a:buNone/>
            </a:pPr>
            <a:r>
              <a:rPr lang="en-US" sz="1750" dirty="0">
                <a:solidFill>
                  <a:srgbClr val="404155"/>
                </a:solidFill>
                <a:latin typeface="Corben" pitchFamily="34" charset="0"/>
                <a:ea typeface="Corben" pitchFamily="34" charset="-122"/>
                <a:cs typeface="Corben" pitchFamily="34" charset="-120"/>
              </a:rPr>
              <a:t>Data Analysis</a:t>
            </a:r>
            <a:endParaRPr lang="en-US" sz="1750" dirty="0"/>
          </a:p>
        </p:txBody>
      </p:sp>
      <p:sp>
        <p:nvSpPr>
          <p:cNvPr id="12" name="Text 6"/>
          <p:cNvSpPr/>
          <p:nvPr/>
        </p:nvSpPr>
        <p:spPr>
          <a:xfrm>
            <a:off x="628531" y="7163395"/>
            <a:ext cx="7886938" cy="574834"/>
          </a:xfrm>
          <a:prstGeom prst="rect">
            <a:avLst/>
          </a:prstGeom>
          <a:noFill/>
          <a:ln/>
        </p:spPr>
        <p:txBody>
          <a:bodyPr wrap="square" lIns="0" tIns="0" rIns="0" bIns="0" rtlCol="0" anchor="t"/>
          <a:lstStyle/>
          <a:p>
            <a:pPr marL="0" indent="0" algn="l">
              <a:lnSpc>
                <a:spcPts val="2250"/>
              </a:lnSpc>
              <a:buNone/>
            </a:pPr>
            <a:r>
              <a:rPr lang="en-US" sz="1400" dirty="0">
                <a:solidFill>
                  <a:srgbClr val="404155"/>
                </a:solidFill>
                <a:latin typeface="Nobile" pitchFamily="34" charset="0"/>
                <a:ea typeface="Nobile" pitchFamily="34" charset="-122"/>
                <a:cs typeface="Nobile" pitchFamily="34" charset="-120"/>
              </a:rPr>
              <a:t>Leveraging data analytics to identify areas for improvement and optimize business processes based on user behavior and market trends.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4109204"/>
            <a:ext cx="13042821" cy="1417558"/>
          </a:xfrm>
          <a:prstGeom prst="rect">
            <a:avLst/>
          </a:prstGeom>
          <a:noFill/>
          <a:ln/>
        </p:spPr>
        <p:txBody>
          <a:bodyPr wrap="square" lIns="0" tIns="0" rIns="0" bIns="0" rtlCol="0" anchor="t"/>
          <a:lstStyle/>
          <a:p>
            <a:pPr marL="0" indent="0">
              <a:lnSpc>
                <a:spcPts val="5550"/>
              </a:lnSpc>
              <a:buNone/>
            </a:pPr>
            <a:r>
              <a:rPr lang="en-US" sz="4450" dirty="0">
                <a:solidFill>
                  <a:srgbClr val="1B1B27"/>
                </a:solidFill>
                <a:latin typeface="Corben" pitchFamily="34" charset="0"/>
                <a:ea typeface="Corben" pitchFamily="34" charset="-122"/>
                <a:cs typeface="Corben" pitchFamily="34" charset="-120"/>
              </a:rPr>
              <a:t>Conclusion and Next Steps: Embracing the Future of E-commerce</a:t>
            </a:r>
            <a:endParaRPr lang="en-US" sz="4450" dirty="0"/>
          </a:p>
        </p:txBody>
      </p:sp>
      <p:sp>
        <p:nvSpPr>
          <p:cNvPr id="4" name="Text 1"/>
          <p:cNvSpPr/>
          <p:nvPr/>
        </p:nvSpPr>
        <p:spPr>
          <a:xfrm>
            <a:off x="793790" y="5866924"/>
            <a:ext cx="13042821" cy="1088708"/>
          </a:xfrm>
          <a:prstGeom prst="rect">
            <a:avLst/>
          </a:prstGeom>
          <a:noFill/>
          <a:ln/>
        </p:spPr>
        <p:txBody>
          <a:bodyPr wrap="square" lIns="0" tIns="0" rIns="0" bIns="0" rtlCol="0" anchor="t"/>
          <a:lstStyle/>
          <a:p>
            <a:pPr marL="0" indent="0">
              <a:lnSpc>
                <a:spcPts val="2850"/>
              </a:lnSpc>
              <a:buNone/>
            </a:pPr>
            <a:r>
              <a:rPr lang="en-US" sz="1750" dirty="0">
                <a:solidFill>
                  <a:srgbClr val="404155"/>
                </a:solidFill>
                <a:latin typeface="Nobile" pitchFamily="34" charset="0"/>
                <a:ea typeface="Nobile" pitchFamily="34" charset="-122"/>
                <a:cs typeface="Nobile" pitchFamily="34" charset="-120"/>
              </a:rPr>
              <a:t>EcomEra has the potential to redefine the e-commerce landscape by providing a user-centric and innovative platform. Future development will focus on enhancing personalization, incorporating emerging technologies, and expanding into new markets.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3D8CEFB238374CB8E021AEEBD72040" ma:contentTypeVersion="5" ma:contentTypeDescription="Create a new document." ma:contentTypeScope="" ma:versionID="b611b01c13d11c03b71a673d33b35044">
  <xsd:schema xmlns:xsd="http://www.w3.org/2001/XMLSchema" xmlns:xs="http://www.w3.org/2001/XMLSchema" xmlns:p="http://schemas.microsoft.com/office/2006/metadata/properties" xmlns:ns2="78e2be93-9392-4902-aba6-2c173b404520" targetNamespace="http://schemas.microsoft.com/office/2006/metadata/properties" ma:root="true" ma:fieldsID="5d2d1e2b7ec8683f3a11c68e226081b5" ns2:_="">
    <xsd:import namespace="78e2be93-9392-4902-aba6-2c173b404520"/>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e2be93-9392-4902-aba6-2c173b404520"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78e2be93-9392-4902-aba6-2c173b404520" xsi:nil="true"/>
  </documentManagement>
</p:properties>
</file>

<file path=customXml/itemProps1.xml><?xml version="1.0" encoding="utf-8"?>
<ds:datastoreItem xmlns:ds="http://schemas.openxmlformats.org/officeDocument/2006/customXml" ds:itemID="{E534592D-CCB9-4591-907E-1CAD6C8DFD17}"/>
</file>

<file path=customXml/itemProps2.xml><?xml version="1.0" encoding="utf-8"?>
<ds:datastoreItem xmlns:ds="http://schemas.openxmlformats.org/officeDocument/2006/customXml" ds:itemID="{2D79AACB-E7C2-42A8-BBCC-149D5E2D2B25}"/>
</file>

<file path=customXml/itemProps3.xml><?xml version="1.0" encoding="utf-8"?>
<ds:datastoreItem xmlns:ds="http://schemas.openxmlformats.org/officeDocument/2006/customXml" ds:itemID="{1CD70661-811C-4D4C-8AA0-A3342B63F9AA}"/>
</file>

<file path=docProps/app.xml><?xml version="1.0" encoding="utf-8"?>
<Properties xmlns="http://schemas.openxmlformats.org/officeDocument/2006/extended-properties" xmlns:vt="http://schemas.openxmlformats.org/officeDocument/2006/docPropsVTypes">
  <TotalTime>20</TotalTime>
  <Words>686</Words>
  <Application>Microsoft Office PowerPoint</Application>
  <PresentationFormat>Custom</PresentationFormat>
  <Paragraphs>81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Corben</vt:lpstr>
      <vt:lpstr>Nobile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Paras Jain</cp:lastModifiedBy>
  <cp:revision>2</cp:revision>
  <dcterms:created xsi:type="dcterms:W3CDTF">2024-10-22T05:08:06Z</dcterms:created>
  <dcterms:modified xsi:type="dcterms:W3CDTF">2024-10-22T05:30:13Z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0x0101000A3D8CEFB238374CB8E021AEEBD72040</vt:lpwstr>
  </property>
</Properties>
</file>